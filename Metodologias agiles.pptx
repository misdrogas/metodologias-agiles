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8" r:id="rId2"/>
    <p:sldId id="303" r:id="rId3"/>
    <p:sldId id="302" r:id="rId4"/>
    <p:sldId id="299" r:id="rId5"/>
    <p:sldId id="301" r:id="rId6"/>
    <p:sldId id="300" r:id="rId7"/>
    <p:sldId id="29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A14"/>
    <a:srgbClr val="2A135A"/>
    <a:srgbClr val="4A2495"/>
    <a:srgbClr val="6B3DCB"/>
    <a:srgbClr val="8A64E0"/>
    <a:srgbClr val="A98CEB"/>
    <a:srgbClr val="C9B4F4"/>
    <a:srgbClr val="F1E9FB"/>
    <a:srgbClr val="E5D5F6"/>
    <a:srgbClr val="D8C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 snapToGrid="0">
      <p:cViewPr>
        <p:scale>
          <a:sx n="75" d="100"/>
          <a:sy n="75" d="100"/>
        </p:scale>
        <p:origin x="4560" y="678"/>
      </p:cViewPr>
      <p:guideLst>
        <p:guide orient="horz" pos="2136"/>
        <p:guide pos="21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087042-5241-4181-B7A1-4320B0103CF7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9EF29-5AC8-46C5-A7C9-419397557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24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9EF29-5AC8-46C5-A7C9-4193975574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82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0A2BD-8B92-FE0B-DFB4-DB973E83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CB0CC-FEF1-B6F6-1816-75CC8E8FF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C4CCE-F8B8-9F4B-5322-6E8291178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1EBF3-B64F-4D72-470F-0F236D7E9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9EF29-5AC8-46C5-A7C9-4193975574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41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86370-6B2D-1C17-A9EF-FB60DD42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00D25-68E9-CB5F-2414-156C4F425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A3C7B-4CE2-3390-ED70-782731EF2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91E5F-9CF6-108B-CA2B-C43D13162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9EF29-5AC8-46C5-A7C9-4193975574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63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2F509-F734-CA7B-A0D2-CDDE838A0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B54AA-6188-D147-DD90-42071C8A4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C662A-A830-6A31-19BD-266CA8AEB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681EA-C966-555C-537C-48DEA16AA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9EF29-5AC8-46C5-A7C9-4193975574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57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B8611-C80A-AA60-BB4F-1C143F97D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4879C7-82B7-AFEF-FB41-DCAD7C4E3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FDACA-6D47-AD2E-E3B8-467AEC19E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CE359-DD58-6AAF-37C7-383BAD4F4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9EF29-5AC8-46C5-A7C9-4193975574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4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866C-9578-A86B-21E3-EE1CD1AF5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9F9ED-3339-FAE3-A058-245BF55DB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36B23-D370-B3D6-AACB-EF2A22FAD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1EA23-9ABB-AC87-9665-12D94B0D6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9EF29-5AC8-46C5-A7C9-4193975574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33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E471A-EA07-4E10-3850-392449D0D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45935F-EEF9-406D-21C9-FB52B4A3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F8037-91D7-EA9E-34C2-D06B6C147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047B6-900F-1359-4586-D8CF63199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9EF29-5AC8-46C5-A7C9-4193975574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6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6BDF-B1E9-8391-B7C2-4550FAD94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A45FD-384F-AE4E-1E8A-6291E6E07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B18D2-8D9B-090F-9ECB-DE936585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DEDC5-4DC4-DC5E-8183-F9582BB7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4226F-A0B9-E286-48EA-C60DF1FC5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00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416D-5B1E-6B55-3121-0DB3AF76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1C49-A66B-2D7C-6DD5-1B5B0FAA8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118EB-2A74-7944-16F0-8E674544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6C781-F825-DE0A-CE73-4BAEE8949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73988-9DCC-5C95-F4EA-04FA8472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40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E148-C90C-7704-1757-3BBEA7E6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8D12F-8CC2-5E0D-128E-967CB69F7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E21D7-9BCC-A3C3-CE6F-2CA51CFD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D2B5C-64EA-DB6B-DEAE-966D73B0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66DEB-7689-0F1E-3827-845055EDE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4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614E9-F241-BAA5-4E8E-59F0C893E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348AE-742D-63FA-9605-3FF497B86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88EDF-E4A1-AB88-0DE0-E8A672FFB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EE6DF-86B2-2B34-7CCE-AB428DF25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96FFB-CE8C-E102-1622-757CDFC05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D7D84-5684-F691-F13F-7BE1CE32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523C-660D-59E6-8FB8-F5242C6DC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9AF8C-1545-22BE-5E7C-04273DBCC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CC4C5-8DA1-3B1A-6FC8-5E9C552E0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22595-B8D1-938F-E890-5BAEC99C8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E3408-3E7D-10CA-4825-30388D5BC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CC6753-E269-2DC7-886D-94CD68C13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0AC188-56D3-9D15-5D0F-6DA4B70C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0B886A-2AF3-E9FE-B2B8-E3781164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68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D71F-ED77-24EB-CE45-A4044508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4C2A15-5C7D-ACCA-8F13-22CD3BCF9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FEFD62-0D81-A0AF-6D5E-F91C0F07E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4B904-9406-BAD5-371F-7CB281B3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F93E2E-040B-8AA4-A85B-FBBD166D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09F30-0352-3E39-C51E-684333E2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3168D-BE51-6D34-1C2E-2AF30273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5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7DCF8-297F-D523-B980-A39FCFD46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24DE6-14F3-9A75-26E4-62B8D89A4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75AA1-7073-27C1-92AF-097C12357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61DE1-FEFE-DE24-A14E-C73317354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BA0B1-C97D-76FF-F2F5-E7760191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74220-1912-B8DE-8F6A-BEB523BA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65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32B0-DE2B-A7E7-8263-4F6DA5484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0BAE2-6830-B0AD-FAC6-CA7CDB3AC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1D1B4-F868-6AAB-5D02-B4738F54D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4CF94-373D-5125-6811-4D0F9A72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3CCFE-09A6-9C32-B75C-04A889BB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4AE82-C783-134D-775A-901B36393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83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33D4-6DAF-0FB7-8285-24256EF5D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EB72C4-B44C-1701-5A1B-DECEEB55B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683F6-E6AD-29BC-B8EA-03DEEB06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4576C-AE86-1613-A250-598412344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A5ADF-C3F1-8278-C1B8-AC286517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688C2C-09C0-8EAE-7B39-FA106DAFA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7E355-B3E1-636B-9BCD-8EC336C9C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32E20-9C69-5901-EE42-CD899B27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0C8D0-46E1-2582-7DB4-656449B67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65BB-AB9A-BA77-DD82-7FF37025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76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69E1C6-69A1-24C5-1DAA-326579F44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C137B-69AC-A840-9738-C555170EB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A0242-7E30-CC13-305A-8CCE3512B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6A54E-7C1F-442E-9633-05573CE5A643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EBD42-9ED8-A3CF-EF27-90FDB882F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DEE57-641E-B829-A353-B3BD63B6C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6243A-28E0-4C92-8992-2F1BD887A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1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05227-B9F5-CC93-BF10-53AB8D47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44918FE-ED31-DBE7-BD9F-2F7501653015}"/>
              </a:ext>
            </a:extLst>
          </p:cNvPr>
          <p:cNvGrpSpPr/>
          <p:nvPr/>
        </p:nvGrpSpPr>
        <p:grpSpPr>
          <a:xfrm>
            <a:off x="-5857461" y="12023"/>
            <a:ext cx="11541600" cy="6896100"/>
            <a:chOff x="-807875" y="0"/>
            <a:chExt cx="11541600" cy="68961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4B437C-7365-E05C-74BE-371130563119}"/>
                </a:ext>
              </a:extLst>
            </p:cNvPr>
            <p:cNvGrpSpPr/>
            <p:nvPr/>
          </p:nvGrpSpPr>
          <p:grpSpPr>
            <a:xfrm>
              <a:off x="-807875" y="0"/>
              <a:ext cx="11541600" cy="6858000"/>
              <a:chOff x="0" y="0"/>
              <a:chExt cx="11541600" cy="68580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D275957-28F4-267D-F7DC-AE5065FBCDD0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solidFill>
                <a:srgbClr val="2A135A"/>
              </a:solidFill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B363ED8-BFC0-DEFC-C804-62D821FC379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3D48D68B-0265-1B95-5DF4-FCE20579F514}"/>
                    </a:ext>
                  </a:extLst>
                </p:cNvPr>
                <p:cNvSpPr/>
                <p:nvPr/>
              </p:nvSpPr>
              <p:spPr>
                <a:xfrm>
                  <a:off x="10692000" y="5756914"/>
                  <a:ext cx="849600" cy="8496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1AD9EB-CBD5-DCA3-0A23-72125F261DA8}"/>
                  </a:ext>
                </a:extLst>
              </p:cNvPr>
              <p:cNvSpPr txBox="1"/>
              <p:nvPr/>
            </p:nvSpPr>
            <p:spPr>
              <a:xfrm>
                <a:off x="5454000" y="476196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¿</a:t>
                </a:r>
                <a:r>
                  <a:rPr lang="en-US" sz="4000" b="1" dirty="0" err="1">
                    <a:latin typeface="Harlow Solid Italic" panose="04030604020F02020D02" pitchFamily="82" charset="0"/>
                  </a:rPr>
                  <a:t>Qué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 son las metodologías 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giles?</a:t>
                </a:r>
              </a:p>
            </p:txBody>
          </p:sp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4562CC0-0520-AB70-A324-D12BBDAE2E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75947" y="1900385"/>
                <a:ext cx="4833000" cy="159766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Conjunto de enfoques flexibles para gestionar proyectos.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Basadas en colaboración, adaptación y entrega continua.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Alternativa a métodos rígidos como el modelo en cascada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EF6CB0-E71C-1B24-8CE1-567ECBC22FA5}"/>
                  </a:ext>
                </a:extLst>
              </p:cNvPr>
              <p:cNvSpPr txBox="1"/>
              <p:nvPr/>
            </p:nvSpPr>
            <p:spPr>
              <a:xfrm>
                <a:off x="10908000" y="5775517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1</a:t>
                </a:r>
              </a:p>
            </p:txBody>
          </p:sp>
        </p:grpSp>
        <p:pic>
          <p:nvPicPr>
            <p:cNvPr id="6" name="Picture 2" descr="Qué es la metodología Agile y por qué está de moda? | Progressa Lean">
              <a:extLst>
                <a:ext uri="{FF2B5EF4-FFF2-40B4-BE49-F238E27FC236}">
                  <a16:creationId xmlns:a16="http://schemas.microsoft.com/office/drawing/2014/main" id="{4302D070-72B7-E018-C06E-FFF6A35822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1793" y="3598804"/>
              <a:ext cx="3311268" cy="3297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C89F37A-AB83-FA7E-F32D-31281D02D0A5}"/>
              </a:ext>
            </a:extLst>
          </p:cNvPr>
          <p:cNvGrpSpPr/>
          <p:nvPr/>
        </p:nvGrpSpPr>
        <p:grpSpPr>
          <a:xfrm>
            <a:off x="-6815296" y="0"/>
            <a:ext cx="11541600" cy="6858000"/>
            <a:chOff x="0" y="0"/>
            <a:chExt cx="11541600" cy="68580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370B329-A452-380F-55FB-51578186BD0C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4A2495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7520CDE-DDFE-07CD-588F-B8FA975B5B9D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151A182F-3A58-E333-20E2-B6E1AFF0586B}"/>
                  </a:ext>
                </a:extLst>
              </p:cNvPr>
              <p:cNvSpPr/>
              <p:nvPr/>
            </p:nvSpPr>
            <p:spPr>
              <a:xfrm>
                <a:off x="10692000" y="4655828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179B0E-B549-31DC-0F5C-5807392DC27B}"/>
                </a:ext>
              </a:extLst>
            </p:cNvPr>
            <p:cNvSpPr txBox="1"/>
            <p:nvPr/>
          </p:nvSpPr>
          <p:spPr>
            <a:xfrm>
              <a:off x="5454000" y="40049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Fases de </a:t>
              </a:r>
              <a:r>
                <a:rPr lang="es-ES" sz="4000" b="1" dirty="0">
                  <a:latin typeface="Harlow Solid Italic" panose="04030604020F02020D02" pitchFamily="82" charset="0"/>
                </a:rPr>
                <a:t>las metodologías ágiles </a:t>
              </a:r>
              <a:endParaRPr lang="es-ES" sz="4000" b="1" noProof="0" dirty="0">
                <a:latin typeface="Harlow Solid Italic" panose="04030604020F02020D02" pitchFamily="82" charset="0"/>
              </a:endParaRP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163B4C1A-8147-7544-F250-753CAECE9F6B}"/>
                </a:ext>
              </a:extLst>
            </p:cNvPr>
            <p:cNvSpPr txBox="1">
              <a:spLocks/>
            </p:cNvSpPr>
            <p:nvPr/>
          </p:nvSpPr>
          <p:spPr>
            <a:xfrm>
              <a:off x="5454000" y="2124435"/>
              <a:ext cx="4052857" cy="2521303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Análisis continuo y basado en historias de usuario.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Diseño evolutivo e incremental.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Implementación por </a:t>
              </a:r>
              <a:r>
                <a:rPr lang="es-ES" sz="1800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sprints</a:t>
              </a: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 con integración continua.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Pruebas continuas y automatizadas.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ligera y útil.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Explotación con despliegues frecuentes.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Mantenimiento continuo desde el backlog.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9AC9331-1CD6-F47C-48A0-7217AC507960}"/>
                </a:ext>
              </a:extLst>
            </p:cNvPr>
            <p:cNvSpPr txBox="1"/>
            <p:nvPr/>
          </p:nvSpPr>
          <p:spPr>
            <a:xfrm>
              <a:off x="10910198" y="4674431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03B457-F92B-6A2E-27D3-2AFEDD955FCC}"/>
              </a:ext>
            </a:extLst>
          </p:cNvPr>
          <p:cNvGrpSpPr/>
          <p:nvPr/>
        </p:nvGrpSpPr>
        <p:grpSpPr>
          <a:xfrm>
            <a:off x="-7684198" y="5635"/>
            <a:ext cx="11541600" cy="6858000"/>
            <a:chOff x="0" y="0"/>
            <a:chExt cx="11541600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A0D1408-9D4F-1E0A-29A7-9447AD7B5001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6B3DC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6783824-1236-F4BF-7CF8-72583190D5A2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38812287-A639-3D51-9704-90BF21777D6F}"/>
                  </a:ext>
                </a:extLst>
              </p:cNvPr>
              <p:cNvSpPr/>
              <p:nvPr/>
            </p:nvSpPr>
            <p:spPr>
              <a:xfrm>
                <a:off x="10692000" y="3554742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BDE9B3A-7812-A02D-1304-3C4AB8748C1D}"/>
                </a:ext>
              </a:extLst>
            </p:cNvPr>
            <p:cNvSpPr txBox="1"/>
            <p:nvPr/>
          </p:nvSpPr>
          <p:spPr>
            <a:xfrm>
              <a:off x="5454000" y="359727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Ventajas de las metodologías ágiles </a:t>
              </a: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761BE324-89C4-5CA0-1172-36D53E60A851}"/>
                </a:ext>
              </a:extLst>
            </p:cNvPr>
            <p:cNvSpPr txBox="1">
              <a:spLocks/>
            </p:cNvSpPr>
            <p:nvPr/>
          </p:nvSpPr>
          <p:spPr>
            <a:xfrm>
              <a:off x="5857943" y="2042893"/>
              <a:ext cx="5054856" cy="189076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calidad del producto.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Alta satisfacción del cliente.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Equipos más motivados.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Trabajo colaborativo.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Métricas más realistas.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control y predicción.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Reducción de costes y riesgos.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B7DC0BC-F8C6-884F-80A8-18BE3CEF7E21}"/>
                </a:ext>
              </a:extLst>
            </p:cNvPr>
            <p:cNvSpPr txBox="1"/>
            <p:nvPr/>
          </p:nvSpPr>
          <p:spPr>
            <a:xfrm>
              <a:off x="10908000" y="3573345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FCE3391-A419-BFF4-9206-C51B356CBB19}"/>
              </a:ext>
            </a:extLst>
          </p:cNvPr>
          <p:cNvGrpSpPr/>
          <p:nvPr/>
        </p:nvGrpSpPr>
        <p:grpSpPr>
          <a:xfrm>
            <a:off x="-8606953" y="0"/>
            <a:ext cx="11541600" cy="6858000"/>
            <a:chOff x="0" y="0"/>
            <a:chExt cx="11541600" cy="6858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80BDCEF-0E13-431C-9461-B241CE30969F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8A64E0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00240C8-DC1B-A2BD-E333-42DB652E5521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DACAE63-C590-D739-2502-B67A364EDA54}"/>
                  </a:ext>
                </a:extLst>
              </p:cNvPr>
              <p:cNvSpPr/>
              <p:nvPr/>
            </p:nvSpPr>
            <p:spPr>
              <a:xfrm>
                <a:off x="10692000" y="2453656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990EFA4-52EC-1ABC-1E1A-1C67BADCC638}"/>
                </a:ext>
              </a:extLst>
            </p:cNvPr>
            <p:cNvSpPr txBox="1"/>
            <p:nvPr/>
          </p:nvSpPr>
          <p:spPr>
            <a:xfrm>
              <a:off x="5454000" y="28338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Desventajas de las metodologías ágiles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0844B46-2011-FEF9-B3C0-712B058B70CE}"/>
                </a:ext>
              </a:extLst>
            </p:cNvPr>
            <p:cNvSpPr txBox="1"/>
            <p:nvPr/>
          </p:nvSpPr>
          <p:spPr>
            <a:xfrm>
              <a:off x="5454000" y="2201088"/>
              <a:ext cx="5019802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Difícil estimar tiempos y costes.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Requiere alta implicación del cliente.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Menos adecuado para equipos grandes.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limitada puede causar problemas</a:t>
              </a:r>
              <a:r>
                <a:rPr lang="es-ES" noProof="0" dirty="0"/>
                <a:t>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1E29A46-6092-E579-6D1E-CB999FF0420E}"/>
                </a:ext>
              </a:extLst>
            </p:cNvPr>
            <p:cNvSpPr txBox="1"/>
            <p:nvPr/>
          </p:nvSpPr>
          <p:spPr>
            <a:xfrm>
              <a:off x="10910198" y="2462957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4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04D5D0A-3456-B6FA-B9A8-FA6A8737494A}"/>
              </a:ext>
            </a:extLst>
          </p:cNvPr>
          <p:cNvGrpSpPr/>
          <p:nvPr/>
        </p:nvGrpSpPr>
        <p:grpSpPr>
          <a:xfrm>
            <a:off x="-9451923" y="0"/>
            <a:ext cx="11541600" cy="6858000"/>
            <a:chOff x="0" y="0"/>
            <a:chExt cx="11541600" cy="68580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B09C114-DC88-5B4C-2193-E0BB535B5124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A98CE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F082ABE-E78A-359D-7B2E-719364982F07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771AF94E-7ADD-F0CB-0B9C-D71272305F0C}"/>
                  </a:ext>
                </a:extLst>
              </p:cNvPr>
              <p:cNvSpPr/>
              <p:nvPr/>
            </p:nvSpPr>
            <p:spPr>
              <a:xfrm>
                <a:off x="10692000" y="1352570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26471B6-FE9F-FDFB-449A-9C1B49980829}"/>
                </a:ext>
              </a:extLst>
            </p:cNvPr>
            <p:cNvSpPr txBox="1"/>
            <p:nvPr/>
          </p:nvSpPr>
          <p:spPr>
            <a:xfrm>
              <a:off x="5841486" y="34053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Cuando usar las metodologías ágiles </a:t>
              </a:r>
            </a:p>
          </p:txBody>
        </p:sp>
        <p:sp>
          <p:nvSpPr>
            <p:cNvPr id="47" name="Content Placeholder 2">
              <a:extLst>
                <a:ext uri="{FF2B5EF4-FFF2-40B4-BE49-F238E27FC236}">
                  <a16:creationId xmlns:a16="http://schemas.microsoft.com/office/drawing/2014/main" id="{2FE60D89-6817-BCFE-80C7-FB0B49B4A01E}"/>
                </a:ext>
              </a:extLst>
            </p:cNvPr>
            <p:cNvSpPr txBox="1">
              <a:spLocks/>
            </p:cNvSpPr>
            <p:nvPr/>
          </p:nvSpPr>
          <p:spPr>
            <a:xfrm>
              <a:off x="5761914" y="2004515"/>
              <a:ext cx="5370800" cy="284897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Proyectos con requisitos cambiantes.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Startups y validación rápida.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Apps, plataformas y software.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Transformación digital.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Necesidad de resultados frecuentes.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998927-52FA-22C5-E607-B73F351FA956}"/>
                </a:ext>
              </a:extLst>
            </p:cNvPr>
            <p:cNvSpPr txBox="1"/>
            <p:nvPr/>
          </p:nvSpPr>
          <p:spPr>
            <a:xfrm>
              <a:off x="10910198" y="1352570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5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285A09D-D6AF-65D0-F008-D921776B67DF}"/>
              </a:ext>
            </a:extLst>
          </p:cNvPr>
          <p:cNvSpPr txBox="1"/>
          <p:nvPr/>
        </p:nvSpPr>
        <p:spPr>
          <a:xfrm rot="2448445">
            <a:off x="4427431" y="2274837"/>
            <a:ext cx="8168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Cooper Black" panose="0208090404030B020404" pitchFamily="18" charset="0"/>
              </a:rPr>
              <a:t>METODOLOGÍAS ÁGILES</a:t>
            </a:r>
            <a:endParaRPr lang="es-ES" sz="7200" noProof="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61D760-DC1F-812A-9943-F2B72658F781}"/>
              </a:ext>
            </a:extLst>
          </p:cNvPr>
          <p:cNvGrpSpPr/>
          <p:nvPr/>
        </p:nvGrpSpPr>
        <p:grpSpPr>
          <a:xfrm>
            <a:off x="-10331029" y="12023"/>
            <a:ext cx="11541600" cy="6858000"/>
            <a:chOff x="-4106489" y="-12641"/>
            <a:chExt cx="11541600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96C58F9-F6C2-E776-3DC2-828F3174D9FE}"/>
                </a:ext>
              </a:extLst>
            </p:cNvPr>
            <p:cNvGrpSpPr/>
            <p:nvPr/>
          </p:nvGrpSpPr>
          <p:grpSpPr>
            <a:xfrm>
              <a:off x="-4106489" y="-12641"/>
              <a:ext cx="11541600" cy="6858000"/>
              <a:chOff x="0" y="0"/>
              <a:chExt cx="11541600" cy="685800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72BC35CE-5F50-0112-000C-02FDC8178D40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81F0CBE-785F-7C20-9DEE-B4C1870C0A4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B172B237-4A12-764A-216C-FE647928284B}"/>
                    </a:ext>
                  </a:extLst>
                </p:cNvPr>
                <p:cNvSpPr/>
                <p:nvPr/>
              </p:nvSpPr>
              <p:spPr>
                <a:xfrm>
                  <a:off x="10692000" y="251484"/>
                  <a:ext cx="849600" cy="849600"/>
                </a:xfrm>
                <a:prstGeom prst="round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080180-4478-9964-6926-8675412D4A38}"/>
                  </a:ext>
                </a:extLst>
              </p:cNvPr>
              <p:cNvSpPr txBox="1"/>
              <p:nvPr/>
            </p:nvSpPr>
            <p:spPr>
              <a:xfrm>
                <a:off x="5454000" y="251484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Metodologías ágiles m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s comunes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41D63BA-D55E-7660-C5EF-977E7FC6D3DF}"/>
                  </a:ext>
                </a:extLst>
              </p:cNvPr>
              <p:cNvSpPr txBox="1"/>
              <p:nvPr/>
            </p:nvSpPr>
            <p:spPr>
              <a:xfrm>
                <a:off x="5454000" y="2228671"/>
                <a:ext cx="470263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Scrum: trabajo por </a:t>
                </a:r>
                <a:r>
                  <a:rPr lang="es-ES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sprints</a:t>
                </a:r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y roles definidos.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Kanban: flujo visual y límite de tareas.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XP: excelencia técnica y pruebas continuas.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Lean: eliminación de desperdicio.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0EE1F6-8501-0C20-C90A-4C72594593A8}"/>
                  </a:ext>
                </a:extLst>
              </p:cNvPr>
              <p:cNvSpPr txBox="1"/>
              <p:nvPr/>
            </p:nvSpPr>
            <p:spPr>
              <a:xfrm>
                <a:off x="10910198" y="251484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6</a:t>
                </a:r>
              </a:p>
            </p:txBody>
          </p:sp>
        </p:grpSp>
        <p:pic>
          <p:nvPicPr>
            <p:cNvPr id="14" name="Picture 13" descr="Professional Scrum Master™ I Certification | Scrum.org">
              <a:extLst>
                <a:ext uri="{FF2B5EF4-FFF2-40B4-BE49-F238E27FC236}">
                  <a16:creationId xmlns:a16="http://schemas.microsoft.com/office/drawing/2014/main" id="{91EC2D2F-C8DE-B377-5EBB-59D5B072C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3275" y="3498054"/>
              <a:ext cx="2676909" cy="2676909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5074FE5-5428-4A2A-BA18-E08A426486D4}"/>
              </a:ext>
            </a:extLst>
          </p:cNvPr>
          <p:cNvSpPr txBox="1"/>
          <p:nvPr/>
        </p:nvSpPr>
        <p:spPr>
          <a:xfrm>
            <a:off x="10768283" y="6203038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Eric Palacios</a:t>
            </a:r>
          </a:p>
          <a:p>
            <a:r>
              <a:rPr lang="en-US" dirty="0"/>
              <a:t>Luna </a:t>
            </a:r>
            <a:r>
              <a:rPr lang="en-US" dirty="0" err="1"/>
              <a:t>Sotés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445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14A1B-5D74-54D0-0568-43710EE89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9040BDF-81E3-20FF-BF4B-2264353761E9}"/>
              </a:ext>
            </a:extLst>
          </p:cNvPr>
          <p:cNvGrpSpPr/>
          <p:nvPr/>
        </p:nvGrpSpPr>
        <p:grpSpPr>
          <a:xfrm>
            <a:off x="448709" y="0"/>
            <a:ext cx="11541600" cy="6896100"/>
            <a:chOff x="-807875" y="0"/>
            <a:chExt cx="11541600" cy="68961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534FE2F-00D9-841D-C343-E41B75DD52C0}"/>
                </a:ext>
              </a:extLst>
            </p:cNvPr>
            <p:cNvGrpSpPr/>
            <p:nvPr/>
          </p:nvGrpSpPr>
          <p:grpSpPr>
            <a:xfrm>
              <a:off x="-807875" y="0"/>
              <a:ext cx="11541600" cy="6858000"/>
              <a:chOff x="0" y="0"/>
              <a:chExt cx="11541600" cy="68580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DE3F32-AB6B-168E-7DCC-B1C437BEAEC4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solidFill>
                <a:srgbClr val="2A135A"/>
              </a:solidFill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6F1ABE8-FDC1-9260-53A5-E488389AB44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1F25766D-0B5C-2CC5-E4D9-6B0827036E94}"/>
                    </a:ext>
                  </a:extLst>
                </p:cNvPr>
                <p:cNvSpPr/>
                <p:nvPr/>
              </p:nvSpPr>
              <p:spPr>
                <a:xfrm>
                  <a:off x="10692000" y="5756914"/>
                  <a:ext cx="849600" cy="8496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E4B581-3D81-5881-8AD9-D6B539DC9F11}"/>
                  </a:ext>
                </a:extLst>
              </p:cNvPr>
              <p:cNvSpPr txBox="1"/>
              <p:nvPr/>
            </p:nvSpPr>
            <p:spPr>
              <a:xfrm>
                <a:off x="5454000" y="476196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¿</a:t>
                </a:r>
                <a:r>
                  <a:rPr lang="en-US" sz="4000" b="1" dirty="0" err="1">
                    <a:latin typeface="Harlow Solid Italic" panose="04030604020F02020D02" pitchFamily="82" charset="0"/>
                  </a:rPr>
                  <a:t>Qué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 son las metodologías 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giles?</a:t>
                </a:r>
              </a:p>
            </p:txBody>
          </p:sp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660042D5-EF62-993F-FF8C-98C98EBA3E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75947" y="1900385"/>
                <a:ext cx="4833000" cy="159766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Conjunto de enfoques flexibles para gestionar proyectos.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Basadas en colaboración, adaptación y entrega continua.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Alternativa a métodos rígidos como el modelo en cascada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845DFB-10B9-F02C-E1CB-FD822597E22B}"/>
                  </a:ext>
                </a:extLst>
              </p:cNvPr>
              <p:cNvSpPr txBox="1"/>
              <p:nvPr/>
            </p:nvSpPr>
            <p:spPr>
              <a:xfrm>
                <a:off x="10908000" y="5775517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1</a:t>
                </a:r>
              </a:p>
            </p:txBody>
          </p:sp>
        </p:grpSp>
        <p:pic>
          <p:nvPicPr>
            <p:cNvPr id="6" name="Picture 2" descr="Qué es la metodología Agile y por qué está de moda? | Progressa Lean">
              <a:extLst>
                <a:ext uri="{FF2B5EF4-FFF2-40B4-BE49-F238E27FC236}">
                  <a16:creationId xmlns:a16="http://schemas.microsoft.com/office/drawing/2014/main" id="{613887F0-D15D-ACA4-253C-13D8030A9C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1793" y="3598804"/>
              <a:ext cx="3311268" cy="3297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D4096BB-4FB7-CBA3-B787-338AD3B04188}"/>
              </a:ext>
            </a:extLst>
          </p:cNvPr>
          <p:cNvGrpSpPr/>
          <p:nvPr/>
        </p:nvGrpSpPr>
        <p:grpSpPr>
          <a:xfrm>
            <a:off x="-6191602" y="-11924"/>
            <a:ext cx="11541600" cy="6858000"/>
            <a:chOff x="0" y="0"/>
            <a:chExt cx="11541600" cy="68580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205E22A-68B4-74A0-7F8B-A740D1CD74E0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4A2495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1F99BF2-F9AA-B068-D003-524365A6CAEA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CB81BF1-7900-9B88-DD4F-FC8A8D44C26F}"/>
                  </a:ext>
                </a:extLst>
              </p:cNvPr>
              <p:cNvSpPr/>
              <p:nvPr/>
            </p:nvSpPr>
            <p:spPr>
              <a:xfrm>
                <a:off x="10692000" y="4655828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96897BB-AEAC-80A1-159D-7D13E0770371}"/>
                </a:ext>
              </a:extLst>
            </p:cNvPr>
            <p:cNvSpPr txBox="1"/>
            <p:nvPr/>
          </p:nvSpPr>
          <p:spPr>
            <a:xfrm>
              <a:off x="5454000" y="40049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Fases de </a:t>
              </a:r>
              <a:r>
                <a:rPr lang="es-ES" sz="4000" b="1" dirty="0">
                  <a:latin typeface="Harlow Solid Italic" panose="04030604020F02020D02" pitchFamily="82" charset="0"/>
                </a:rPr>
                <a:t>las metodologías ágiles </a:t>
              </a:r>
              <a:endParaRPr lang="es-ES" sz="4000" b="1" noProof="0" dirty="0">
                <a:latin typeface="Harlow Solid Italic" panose="04030604020F02020D02" pitchFamily="82" charset="0"/>
              </a:endParaRP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25577C27-D08D-7573-8A2A-B16A24D7676A}"/>
                </a:ext>
              </a:extLst>
            </p:cNvPr>
            <p:cNvSpPr txBox="1">
              <a:spLocks/>
            </p:cNvSpPr>
            <p:nvPr/>
          </p:nvSpPr>
          <p:spPr>
            <a:xfrm>
              <a:off x="5454000" y="2124435"/>
              <a:ext cx="4052857" cy="2521303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Análisis continuo y basado en historias de usuario.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Diseño evolutivo e incremental.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Implementación por </a:t>
              </a:r>
              <a:r>
                <a:rPr lang="es-ES" sz="1800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sprints</a:t>
              </a: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 con integración continua.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Pruebas continuas y automatizadas.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ligera y útil.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Explotación con despliegues frecuentes.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Mantenimiento continuo desde el backlog.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E2C5D2-76A1-C4AE-837A-AEE4EDF81920}"/>
                </a:ext>
              </a:extLst>
            </p:cNvPr>
            <p:cNvSpPr txBox="1"/>
            <p:nvPr/>
          </p:nvSpPr>
          <p:spPr>
            <a:xfrm>
              <a:off x="10910198" y="4674431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D34A112-F450-539F-EC00-8796E98F8DDB}"/>
              </a:ext>
            </a:extLst>
          </p:cNvPr>
          <p:cNvGrpSpPr/>
          <p:nvPr/>
        </p:nvGrpSpPr>
        <p:grpSpPr>
          <a:xfrm>
            <a:off x="-7237291" y="0"/>
            <a:ext cx="11541600" cy="6858000"/>
            <a:chOff x="0" y="0"/>
            <a:chExt cx="11541600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A5B680A-8695-23F5-0E89-A5BE3EE2C17B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6B3DC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9194F1C-3F72-7332-9566-C7AC13B3BA82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B6CFE394-409F-5FC7-A3C6-CA67FF22EE6D}"/>
                  </a:ext>
                </a:extLst>
              </p:cNvPr>
              <p:cNvSpPr/>
              <p:nvPr/>
            </p:nvSpPr>
            <p:spPr>
              <a:xfrm>
                <a:off x="10692000" y="3554742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A94234F-42D8-8A14-476A-383EC4DCA998}"/>
                </a:ext>
              </a:extLst>
            </p:cNvPr>
            <p:cNvSpPr txBox="1"/>
            <p:nvPr/>
          </p:nvSpPr>
          <p:spPr>
            <a:xfrm>
              <a:off x="5454000" y="359727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Ventajas de las metodologías ágiles </a:t>
              </a: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474C431B-DA45-B2C5-51D4-F09E0CE82556}"/>
                </a:ext>
              </a:extLst>
            </p:cNvPr>
            <p:cNvSpPr txBox="1">
              <a:spLocks/>
            </p:cNvSpPr>
            <p:nvPr/>
          </p:nvSpPr>
          <p:spPr>
            <a:xfrm>
              <a:off x="5857943" y="2042893"/>
              <a:ext cx="5054856" cy="189076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calidad del producto.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Alta satisfacción del cliente.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Equipos más motivados.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Trabajo colaborativo.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Métricas más realistas.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control y predicción.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Reducción de costes y riesgos.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C7A2D46-BB51-F5DF-BA29-7A714FAD4959}"/>
                </a:ext>
              </a:extLst>
            </p:cNvPr>
            <p:cNvSpPr txBox="1"/>
            <p:nvPr/>
          </p:nvSpPr>
          <p:spPr>
            <a:xfrm>
              <a:off x="10908000" y="3573345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AE9313-5D17-FEAB-FD0B-47DB450DD2B5}"/>
              </a:ext>
            </a:extLst>
          </p:cNvPr>
          <p:cNvGrpSpPr/>
          <p:nvPr/>
        </p:nvGrpSpPr>
        <p:grpSpPr>
          <a:xfrm>
            <a:off x="-8263847" y="5962"/>
            <a:ext cx="11541600" cy="6858000"/>
            <a:chOff x="0" y="0"/>
            <a:chExt cx="11541600" cy="6858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4355452-419E-F33C-7233-8635A8BC1A54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8A64E0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8CC16BA-96F5-FA1F-BCB4-168930F39551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F7CDFA94-F571-B9EC-CE1C-2E6817121C8F}"/>
                  </a:ext>
                </a:extLst>
              </p:cNvPr>
              <p:cNvSpPr/>
              <p:nvPr/>
            </p:nvSpPr>
            <p:spPr>
              <a:xfrm>
                <a:off x="10692000" y="2453656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E292F60-A06F-1BE6-4280-92CABF01577A}"/>
                </a:ext>
              </a:extLst>
            </p:cNvPr>
            <p:cNvSpPr txBox="1"/>
            <p:nvPr/>
          </p:nvSpPr>
          <p:spPr>
            <a:xfrm>
              <a:off x="5454000" y="28338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Desventajas de las metodologías ágiles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66C77A0-963F-A0BD-C8B9-F52D180E9B4B}"/>
                </a:ext>
              </a:extLst>
            </p:cNvPr>
            <p:cNvSpPr txBox="1"/>
            <p:nvPr/>
          </p:nvSpPr>
          <p:spPr>
            <a:xfrm>
              <a:off x="5454000" y="2201088"/>
              <a:ext cx="5019802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Difícil estimar tiempos y costes.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Requiere alta implicación del cliente.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Menos adecuado para equipos grandes.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limitada puede causar problemas</a:t>
              </a:r>
              <a:r>
                <a:rPr lang="es-ES" noProof="0" dirty="0"/>
                <a:t>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5F47199-E78F-2B0B-1278-F17D6E72CA9C}"/>
                </a:ext>
              </a:extLst>
            </p:cNvPr>
            <p:cNvSpPr txBox="1"/>
            <p:nvPr/>
          </p:nvSpPr>
          <p:spPr>
            <a:xfrm>
              <a:off x="10910198" y="2462957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4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FCB1DB6-084A-29C2-36B1-C99C439F9FE6}"/>
              </a:ext>
            </a:extLst>
          </p:cNvPr>
          <p:cNvGrpSpPr/>
          <p:nvPr/>
        </p:nvGrpSpPr>
        <p:grpSpPr>
          <a:xfrm>
            <a:off x="-9201012" y="0"/>
            <a:ext cx="11541600" cy="6858000"/>
            <a:chOff x="0" y="0"/>
            <a:chExt cx="11541600" cy="68580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DFFE2D6-E171-F59F-E88A-971410802A69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A98CE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6EAA442-FB4A-0BD6-D3B2-FEA82E664BA0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91DA36A5-5AAF-AF4E-87AA-69D4EA9D3422}"/>
                  </a:ext>
                </a:extLst>
              </p:cNvPr>
              <p:cNvSpPr/>
              <p:nvPr/>
            </p:nvSpPr>
            <p:spPr>
              <a:xfrm>
                <a:off x="10692000" y="1352570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B5BEAD1-3E50-5B05-C1FF-1C4BC7594675}"/>
                </a:ext>
              </a:extLst>
            </p:cNvPr>
            <p:cNvSpPr txBox="1"/>
            <p:nvPr/>
          </p:nvSpPr>
          <p:spPr>
            <a:xfrm>
              <a:off x="5841486" y="34053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Cuando usar las metodologías ágiles </a:t>
              </a:r>
            </a:p>
          </p:txBody>
        </p:sp>
        <p:sp>
          <p:nvSpPr>
            <p:cNvPr id="47" name="Content Placeholder 2">
              <a:extLst>
                <a:ext uri="{FF2B5EF4-FFF2-40B4-BE49-F238E27FC236}">
                  <a16:creationId xmlns:a16="http://schemas.microsoft.com/office/drawing/2014/main" id="{5B4DCA5B-009C-E155-8D3D-E71BA48C8E81}"/>
                </a:ext>
              </a:extLst>
            </p:cNvPr>
            <p:cNvSpPr txBox="1">
              <a:spLocks/>
            </p:cNvSpPr>
            <p:nvPr/>
          </p:nvSpPr>
          <p:spPr>
            <a:xfrm>
              <a:off x="5761914" y="2004515"/>
              <a:ext cx="5370800" cy="284897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Proyectos con requisitos cambiantes.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Startups y validación rápida.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Apps, plataformas y software.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Transformación digital.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Necesidad de resultados frecuentes.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0E441CD-4E15-1745-D1D3-F6A580EFD615}"/>
                </a:ext>
              </a:extLst>
            </p:cNvPr>
            <p:cNvSpPr txBox="1"/>
            <p:nvPr/>
          </p:nvSpPr>
          <p:spPr>
            <a:xfrm>
              <a:off x="10910198" y="1352570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5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7377BC3-BAC7-6D6A-6CD4-FB7239C1BC0A}"/>
              </a:ext>
            </a:extLst>
          </p:cNvPr>
          <p:cNvGrpSpPr/>
          <p:nvPr/>
        </p:nvGrpSpPr>
        <p:grpSpPr>
          <a:xfrm>
            <a:off x="-10110667" y="0"/>
            <a:ext cx="11541600" cy="6858000"/>
            <a:chOff x="-4106489" y="-12641"/>
            <a:chExt cx="11541600" cy="6858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75A21FD-DC75-4CE4-437A-CA3F12B26653}"/>
                </a:ext>
              </a:extLst>
            </p:cNvPr>
            <p:cNvGrpSpPr/>
            <p:nvPr/>
          </p:nvGrpSpPr>
          <p:grpSpPr>
            <a:xfrm>
              <a:off x="-4106489" y="-12641"/>
              <a:ext cx="11541600" cy="6858000"/>
              <a:chOff x="0" y="0"/>
              <a:chExt cx="11541600" cy="6858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B612918-E2F8-0F8D-F664-C1B8DA50EAD1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7F1D9093-EA2C-0297-BFEF-9754BEE99E2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4363306C-71F1-7352-1D49-09DD01A2CAD0}"/>
                    </a:ext>
                  </a:extLst>
                </p:cNvPr>
                <p:cNvSpPr/>
                <p:nvPr/>
              </p:nvSpPr>
              <p:spPr>
                <a:xfrm>
                  <a:off x="10692000" y="251484"/>
                  <a:ext cx="849600" cy="849600"/>
                </a:xfrm>
                <a:prstGeom prst="round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5D41D51-2D82-40CB-81A1-CD86CE84B306}"/>
                  </a:ext>
                </a:extLst>
              </p:cNvPr>
              <p:cNvSpPr txBox="1"/>
              <p:nvPr/>
            </p:nvSpPr>
            <p:spPr>
              <a:xfrm>
                <a:off x="5454000" y="251484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Metodologías ágiles m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s comunes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DF9E4D-C303-A94C-FCDC-ED1E4094AD39}"/>
                  </a:ext>
                </a:extLst>
              </p:cNvPr>
              <p:cNvSpPr txBox="1"/>
              <p:nvPr/>
            </p:nvSpPr>
            <p:spPr>
              <a:xfrm>
                <a:off x="5454000" y="2228671"/>
                <a:ext cx="470263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Scrum: trabajo por </a:t>
                </a:r>
                <a:r>
                  <a:rPr lang="es-ES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sprints</a:t>
                </a:r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y roles definidos.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Kanban: flujo visual y límite de tareas.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XP: excelencia técnica y pruebas continuas.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Lean: eliminación de desperdicio.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765CD3-D5DC-0D3C-5C19-E2B10E4036E8}"/>
                  </a:ext>
                </a:extLst>
              </p:cNvPr>
              <p:cNvSpPr txBox="1"/>
              <p:nvPr/>
            </p:nvSpPr>
            <p:spPr>
              <a:xfrm>
                <a:off x="10910198" y="251484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6</a:t>
                </a:r>
              </a:p>
            </p:txBody>
          </p:sp>
        </p:grpSp>
        <p:pic>
          <p:nvPicPr>
            <p:cNvPr id="13" name="Picture 12" descr="Professional Scrum Master™ I Certification | Scrum.org">
              <a:extLst>
                <a:ext uri="{FF2B5EF4-FFF2-40B4-BE49-F238E27FC236}">
                  <a16:creationId xmlns:a16="http://schemas.microsoft.com/office/drawing/2014/main" id="{E4038381-A6D1-7454-8BC4-09483BF9B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3275" y="3498054"/>
              <a:ext cx="2676909" cy="2676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80936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E56B2-83E7-DDFC-67A7-8B522BC9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CAA26CA-B2FE-12E5-5CB1-CAFC548A40DD}"/>
              </a:ext>
            </a:extLst>
          </p:cNvPr>
          <p:cNvGrpSpPr/>
          <p:nvPr/>
        </p:nvGrpSpPr>
        <p:grpSpPr>
          <a:xfrm>
            <a:off x="448709" y="0"/>
            <a:ext cx="11541600" cy="6896100"/>
            <a:chOff x="-807875" y="0"/>
            <a:chExt cx="11541600" cy="68961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63D5D12-3D42-3288-6908-9B2E27633DE2}"/>
                </a:ext>
              </a:extLst>
            </p:cNvPr>
            <p:cNvGrpSpPr/>
            <p:nvPr/>
          </p:nvGrpSpPr>
          <p:grpSpPr>
            <a:xfrm>
              <a:off x="-807875" y="0"/>
              <a:ext cx="11541600" cy="6858000"/>
              <a:chOff x="0" y="0"/>
              <a:chExt cx="11541600" cy="68580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09CF0D9-8C03-159E-A343-AF328B7AEBDE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solidFill>
                <a:srgbClr val="2A135A"/>
              </a:solidFill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A3872A7-FAC8-8F72-7F51-C7E398864E8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FA5ACAF9-5D49-C4D2-2826-3ED7AED2C4CC}"/>
                    </a:ext>
                  </a:extLst>
                </p:cNvPr>
                <p:cNvSpPr/>
                <p:nvPr/>
              </p:nvSpPr>
              <p:spPr>
                <a:xfrm>
                  <a:off x="10692000" y="5756914"/>
                  <a:ext cx="849600" cy="8496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403836-379C-3630-8327-28AB4ACA570F}"/>
                  </a:ext>
                </a:extLst>
              </p:cNvPr>
              <p:cNvSpPr txBox="1"/>
              <p:nvPr/>
            </p:nvSpPr>
            <p:spPr>
              <a:xfrm>
                <a:off x="5454000" y="476196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¿</a:t>
                </a:r>
                <a:r>
                  <a:rPr lang="en-US" sz="4000" b="1" dirty="0" err="1">
                    <a:latin typeface="Harlow Solid Italic" panose="04030604020F02020D02" pitchFamily="82" charset="0"/>
                  </a:rPr>
                  <a:t>Qué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 son las metodologías 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giles?</a:t>
                </a:r>
              </a:p>
            </p:txBody>
          </p:sp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DFB22915-D136-EF9C-14CE-24171B5608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75947" y="1900385"/>
                <a:ext cx="4833000" cy="159766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Conjunto de enfoques flexibles para gestionar proyectos.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Basadas en colaboración, adaptación y entrega continua.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Alternativa a métodos rígidos como el modelo en cascada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362C29-33AE-1366-DE8E-EFB44DFF62E3}"/>
                  </a:ext>
                </a:extLst>
              </p:cNvPr>
              <p:cNvSpPr txBox="1"/>
              <p:nvPr/>
            </p:nvSpPr>
            <p:spPr>
              <a:xfrm>
                <a:off x="10908000" y="5775517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1</a:t>
                </a:r>
              </a:p>
            </p:txBody>
          </p:sp>
        </p:grpSp>
        <p:pic>
          <p:nvPicPr>
            <p:cNvPr id="6" name="Picture 2" descr="Qué es la metodología Agile y por qué está de moda? | Progressa Lean">
              <a:extLst>
                <a:ext uri="{FF2B5EF4-FFF2-40B4-BE49-F238E27FC236}">
                  <a16:creationId xmlns:a16="http://schemas.microsoft.com/office/drawing/2014/main" id="{F9D90FEA-C3D2-A024-8655-1375A6F32A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1793" y="3598804"/>
              <a:ext cx="3311268" cy="3297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19E0CDB-7342-7503-978F-F0343B05EB95}"/>
              </a:ext>
            </a:extLst>
          </p:cNvPr>
          <p:cNvGrpSpPr/>
          <p:nvPr/>
        </p:nvGrpSpPr>
        <p:grpSpPr>
          <a:xfrm>
            <a:off x="-508891" y="0"/>
            <a:ext cx="11541600" cy="6858000"/>
            <a:chOff x="0" y="0"/>
            <a:chExt cx="11541600" cy="68580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8F4D8EF-D45C-008B-6BB5-5A7296693160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4A2495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FCA9996-05BE-72B2-9836-FDFD90C63A0C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1427BC57-04DF-D50A-AE90-A2ED89274383}"/>
                  </a:ext>
                </a:extLst>
              </p:cNvPr>
              <p:cNvSpPr/>
              <p:nvPr/>
            </p:nvSpPr>
            <p:spPr>
              <a:xfrm>
                <a:off x="10692000" y="4655828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D8A401-E041-7749-087E-2E1CD7FE1412}"/>
                </a:ext>
              </a:extLst>
            </p:cNvPr>
            <p:cNvSpPr txBox="1"/>
            <p:nvPr/>
          </p:nvSpPr>
          <p:spPr>
            <a:xfrm>
              <a:off x="5454000" y="40049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Fases de </a:t>
              </a:r>
              <a:r>
                <a:rPr lang="es-ES" sz="4000" b="1" dirty="0">
                  <a:latin typeface="Harlow Solid Italic" panose="04030604020F02020D02" pitchFamily="82" charset="0"/>
                </a:rPr>
                <a:t>las metodologías ágiles </a:t>
              </a:r>
              <a:endParaRPr lang="es-ES" sz="4000" b="1" noProof="0" dirty="0">
                <a:latin typeface="Harlow Solid Italic" panose="04030604020F02020D02" pitchFamily="82" charset="0"/>
              </a:endParaRP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2F262F44-6F03-A429-0764-B5F84743EEDF}"/>
                </a:ext>
              </a:extLst>
            </p:cNvPr>
            <p:cNvSpPr txBox="1">
              <a:spLocks/>
            </p:cNvSpPr>
            <p:nvPr/>
          </p:nvSpPr>
          <p:spPr>
            <a:xfrm>
              <a:off x="5454000" y="2124435"/>
              <a:ext cx="4052857" cy="2521303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Análisis continuo y basado en historias de usuario.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Diseño evolutivo e incremental.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Implementación por </a:t>
              </a:r>
              <a:r>
                <a:rPr lang="es-ES" sz="1800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sprints</a:t>
              </a: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 con integración continua.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Pruebas continuas y automatizadas.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ligera y útil.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Explotación con despliegues frecuentes.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Mantenimiento continuo desde el backlog.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88F009-F583-0DDD-10ED-80025CDA11BC}"/>
                </a:ext>
              </a:extLst>
            </p:cNvPr>
            <p:cNvSpPr txBox="1"/>
            <p:nvPr/>
          </p:nvSpPr>
          <p:spPr>
            <a:xfrm>
              <a:off x="10910198" y="4674431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BDC1EB-1955-8377-3F40-B36629A1DD86}"/>
              </a:ext>
            </a:extLst>
          </p:cNvPr>
          <p:cNvGrpSpPr/>
          <p:nvPr/>
        </p:nvGrpSpPr>
        <p:grpSpPr>
          <a:xfrm>
            <a:off x="-7237291" y="0"/>
            <a:ext cx="11541600" cy="6858000"/>
            <a:chOff x="0" y="0"/>
            <a:chExt cx="11541600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97B518B-EA32-330A-654E-6EFCBC31DE6D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6B3DC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03FFAF6-0B25-8982-C47E-3CDD37DA7135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F415B3F4-4442-8C99-656A-71482889876E}"/>
                  </a:ext>
                </a:extLst>
              </p:cNvPr>
              <p:cNvSpPr/>
              <p:nvPr/>
            </p:nvSpPr>
            <p:spPr>
              <a:xfrm>
                <a:off x="10692000" y="3554742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7DDCE56-4FFE-7CA9-FF4B-E53D12CC1515}"/>
                </a:ext>
              </a:extLst>
            </p:cNvPr>
            <p:cNvSpPr txBox="1"/>
            <p:nvPr/>
          </p:nvSpPr>
          <p:spPr>
            <a:xfrm>
              <a:off x="5454000" y="359727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Ventajas de las metodologías ágiles </a:t>
              </a: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187F5AE0-63A7-B11F-B69D-5B910BB2E4BB}"/>
                </a:ext>
              </a:extLst>
            </p:cNvPr>
            <p:cNvSpPr txBox="1">
              <a:spLocks/>
            </p:cNvSpPr>
            <p:nvPr/>
          </p:nvSpPr>
          <p:spPr>
            <a:xfrm>
              <a:off x="5857943" y="2042893"/>
              <a:ext cx="5054856" cy="189076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calidad del producto.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Alta satisfacción del cliente.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Equipos más motivados.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Trabajo colaborativo.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Métricas más realistas.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control y predicción.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Reducción de costes y riesgos.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69EB7B6-3BBD-4D88-0BB1-5AB37ED115AD}"/>
                </a:ext>
              </a:extLst>
            </p:cNvPr>
            <p:cNvSpPr txBox="1"/>
            <p:nvPr/>
          </p:nvSpPr>
          <p:spPr>
            <a:xfrm>
              <a:off x="10908000" y="3573345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3BFCDCE-330C-44B1-8F77-6C8A5A6E0565}"/>
              </a:ext>
            </a:extLst>
          </p:cNvPr>
          <p:cNvGrpSpPr/>
          <p:nvPr/>
        </p:nvGrpSpPr>
        <p:grpSpPr>
          <a:xfrm>
            <a:off x="-8263847" y="5962"/>
            <a:ext cx="11541600" cy="6858000"/>
            <a:chOff x="0" y="0"/>
            <a:chExt cx="11541600" cy="6858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362954E-DD7C-F018-B82E-6FD892FE575E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8A64E0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40BF1F5-0EBB-9467-797A-80FD0220B2E4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1B53AF43-0131-2D02-6A52-C4AB0F20B2CE}"/>
                  </a:ext>
                </a:extLst>
              </p:cNvPr>
              <p:cNvSpPr/>
              <p:nvPr/>
            </p:nvSpPr>
            <p:spPr>
              <a:xfrm>
                <a:off x="10692000" y="2453656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67E606-7AF3-B562-C7E4-9BA0A73D1215}"/>
                </a:ext>
              </a:extLst>
            </p:cNvPr>
            <p:cNvSpPr txBox="1"/>
            <p:nvPr/>
          </p:nvSpPr>
          <p:spPr>
            <a:xfrm>
              <a:off x="5454000" y="28338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Desventajas de las metodologías ágiles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873E713-6A25-258D-46B9-425370DD08C9}"/>
                </a:ext>
              </a:extLst>
            </p:cNvPr>
            <p:cNvSpPr txBox="1"/>
            <p:nvPr/>
          </p:nvSpPr>
          <p:spPr>
            <a:xfrm>
              <a:off x="5454000" y="2201088"/>
              <a:ext cx="5019802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Difícil estimar tiempos y costes.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Requiere alta implicación del cliente.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Menos adecuado para equipos grandes.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limitada puede causar problemas</a:t>
              </a:r>
              <a:r>
                <a:rPr lang="es-ES" noProof="0" dirty="0"/>
                <a:t>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7CFE3BD-13B2-061F-CA4D-98FAD1FDCD6D}"/>
                </a:ext>
              </a:extLst>
            </p:cNvPr>
            <p:cNvSpPr txBox="1"/>
            <p:nvPr/>
          </p:nvSpPr>
          <p:spPr>
            <a:xfrm>
              <a:off x="10910198" y="2462957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4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3F6AD3C-D2D7-0874-7447-5887E720AAB4}"/>
              </a:ext>
            </a:extLst>
          </p:cNvPr>
          <p:cNvGrpSpPr/>
          <p:nvPr/>
        </p:nvGrpSpPr>
        <p:grpSpPr>
          <a:xfrm>
            <a:off x="-9201012" y="0"/>
            <a:ext cx="11541600" cy="6858000"/>
            <a:chOff x="0" y="0"/>
            <a:chExt cx="11541600" cy="68580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CD177D6-57B6-3049-5793-70A52CD3350A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A98CE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35C0BD4-BB8C-C7DA-2045-FB692C652EED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9EEE2010-E86D-ACEA-A3BF-E52A351F2BE3}"/>
                  </a:ext>
                </a:extLst>
              </p:cNvPr>
              <p:cNvSpPr/>
              <p:nvPr/>
            </p:nvSpPr>
            <p:spPr>
              <a:xfrm>
                <a:off x="10692000" y="1352570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929BFF6-DB03-EE92-1EF2-22447E8060E2}"/>
                </a:ext>
              </a:extLst>
            </p:cNvPr>
            <p:cNvSpPr txBox="1"/>
            <p:nvPr/>
          </p:nvSpPr>
          <p:spPr>
            <a:xfrm>
              <a:off x="5841486" y="34053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Cuando usar las metodologías ágiles </a:t>
              </a:r>
            </a:p>
          </p:txBody>
        </p:sp>
        <p:sp>
          <p:nvSpPr>
            <p:cNvPr id="47" name="Content Placeholder 2">
              <a:extLst>
                <a:ext uri="{FF2B5EF4-FFF2-40B4-BE49-F238E27FC236}">
                  <a16:creationId xmlns:a16="http://schemas.microsoft.com/office/drawing/2014/main" id="{94E21D47-68E4-611B-C363-1B7667D51615}"/>
                </a:ext>
              </a:extLst>
            </p:cNvPr>
            <p:cNvSpPr txBox="1">
              <a:spLocks/>
            </p:cNvSpPr>
            <p:nvPr/>
          </p:nvSpPr>
          <p:spPr>
            <a:xfrm>
              <a:off x="5761914" y="2004515"/>
              <a:ext cx="5370800" cy="284897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Proyectos con requisitos cambiantes.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Startups y validación rápida.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Apps, plataformas y software.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Transformación digital.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Necesidad de resultados frecuentes.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56CD267-8E1D-5C60-A18C-59D0133805A7}"/>
                </a:ext>
              </a:extLst>
            </p:cNvPr>
            <p:cNvSpPr txBox="1"/>
            <p:nvPr/>
          </p:nvSpPr>
          <p:spPr>
            <a:xfrm>
              <a:off x="10910198" y="1352570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5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1D68F2D-3366-58A9-2CCC-AE14EDFF498F}"/>
              </a:ext>
            </a:extLst>
          </p:cNvPr>
          <p:cNvGrpSpPr/>
          <p:nvPr/>
        </p:nvGrpSpPr>
        <p:grpSpPr>
          <a:xfrm>
            <a:off x="-10138177" y="-5962"/>
            <a:ext cx="11541600" cy="6858000"/>
            <a:chOff x="-4106489" y="-12641"/>
            <a:chExt cx="11541600" cy="6858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D722066-5F09-399D-F9C4-80B103606BED}"/>
                </a:ext>
              </a:extLst>
            </p:cNvPr>
            <p:cNvGrpSpPr/>
            <p:nvPr/>
          </p:nvGrpSpPr>
          <p:grpSpPr>
            <a:xfrm>
              <a:off x="-4106489" y="-12641"/>
              <a:ext cx="11541600" cy="6858000"/>
              <a:chOff x="0" y="0"/>
              <a:chExt cx="11541600" cy="6858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5B94D5C-F11D-726D-4A55-F7D8AB8EE630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E6CE90F-65B0-A5CE-42E8-2542A0A65FB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D181B8DB-5305-B1AC-2D3F-7246F7CC5DEC}"/>
                    </a:ext>
                  </a:extLst>
                </p:cNvPr>
                <p:cNvSpPr/>
                <p:nvPr/>
              </p:nvSpPr>
              <p:spPr>
                <a:xfrm>
                  <a:off x="10692000" y="251484"/>
                  <a:ext cx="849600" cy="849600"/>
                </a:xfrm>
                <a:prstGeom prst="round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16D08A-9D19-50A4-DD8F-8BF33F1C5E1E}"/>
                  </a:ext>
                </a:extLst>
              </p:cNvPr>
              <p:cNvSpPr txBox="1"/>
              <p:nvPr/>
            </p:nvSpPr>
            <p:spPr>
              <a:xfrm>
                <a:off x="5454000" y="251484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Metodologías ágiles m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s comunes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CB8A2B-8008-0947-B81B-79185255480C}"/>
                  </a:ext>
                </a:extLst>
              </p:cNvPr>
              <p:cNvSpPr txBox="1"/>
              <p:nvPr/>
            </p:nvSpPr>
            <p:spPr>
              <a:xfrm>
                <a:off x="5454000" y="2228671"/>
                <a:ext cx="470263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Scrum: trabajo por </a:t>
                </a:r>
                <a:r>
                  <a:rPr lang="es-ES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sprints</a:t>
                </a:r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y roles definidos.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Kanban: flujo visual y límite de tareas.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XP: excelencia técnica y pruebas continuas.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Lean: eliminación de desperdicio.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2F1D36-1822-88A7-69C0-0AA00739DBF0}"/>
                  </a:ext>
                </a:extLst>
              </p:cNvPr>
              <p:cNvSpPr txBox="1"/>
              <p:nvPr/>
            </p:nvSpPr>
            <p:spPr>
              <a:xfrm>
                <a:off x="10910198" y="251484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6</a:t>
                </a:r>
              </a:p>
            </p:txBody>
          </p:sp>
        </p:grpSp>
        <p:pic>
          <p:nvPicPr>
            <p:cNvPr id="13" name="Picture 12" descr="Professional Scrum Master™ I Certification | Scrum.org">
              <a:extLst>
                <a:ext uri="{FF2B5EF4-FFF2-40B4-BE49-F238E27FC236}">
                  <a16:creationId xmlns:a16="http://schemas.microsoft.com/office/drawing/2014/main" id="{91F4EADB-9340-AD4B-869C-D1C6CAA1D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3275" y="3498054"/>
              <a:ext cx="2676909" cy="2676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43437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BA720-98C0-54C1-58B4-1DF0730C9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D317BCC-0F03-A017-A0A6-8F2416A12B65}"/>
              </a:ext>
            </a:extLst>
          </p:cNvPr>
          <p:cNvGrpSpPr/>
          <p:nvPr/>
        </p:nvGrpSpPr>
        <p:grpSpPr>
          <a:xfrm>
            <a:off x="448709" y="0"/>
            <a:ext cx="11541600" cy="6896100"/>
            <a:chOff x="-807875" y="0"/>
            <a:chExt cx="11541600" cy="68961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4FA5647-2D13-BF27-B2A3-83FAC4F4C117}"/>
                </a:ext>
              </a:extLst>
            </p:cNvPr>
            <p:cNvGrpSpPr/>
            <p:nvPr/>
          </p:nvGrpSpPr>
          <p:grpSpPr>
            <a:xfrm>
              <a:off x="-807875" y="0"/>
              <a:ext cx="11541600" cy="6858000"/>
              <a:chOff x="0" y="0"/>
              <a:chExt cx="11541600" cy="68580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738EDA0-2A60-64E9-E498-3BC6532933F1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solidFill>
                <a:srgbClr val="2A135A"/>
              </a:solidFill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F7AD0D4-C30B-9D89-9CAA-BCA67CAF6EF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A1611352-32A7-8E0E-C6DB-63E359FD7E02}"/>
                    </a:ext>
                  </a:extLst>
                </p:cNvPr>
                <p:cNvSpPr/>
                <p:nvPr/>
              </p:nvSpPr>
              <p:spPr>
                <a:xfrm>
                  <a:off x="10692000" y="5756914"/>
                  <a:ext cx="849600" cy="8496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000FEE-63BD-A4CD-8B0B-F60648C47B0F}"/>
                  </a:ext>
                </a:extLst>
              </p:cNvPr>
              <p:cNvSpPr txBox="1"/>
              <p:nvPr/>
            </p:nvSpPr>
            <p:spPr>
              <a:xfrm>
                <a:off x="5454000" y="476196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¿</a:t>
                </a:r>
                <a:r>
                  <a:rPr lang="en-US" sz="4000" b="1" dirty="0" err="1">
                    <a:latin typeface="Harlow Solid Italic" panose="04030604020F02020D02" pitchFamily="82" charset="0"/>
                  </a:rPr>
                  <a:t>Qué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 son las metodologías 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giles?</a:t>
                </a:r>
              </a:p>
            </p:txBody>
          </p:sp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A54F4CB-3B5C-6B59-937F-70354F1322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75947" y="1900385"/>
                <a:ext cx="4833000" cy="159766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Conjunto de enfoques flexibles para gestionar proyectos.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Basadas en colaboración, adaptación y entrega continua.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Alternativa a métodos rígidos como el modelo en cascada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4E7713-842C-BA67-07B2-710A080C4F1D}"/>
                  </a:ext>
                </a:extLst>
              </p:cNvPr>
              <p:cNvSpPr txBox="1"/>
              <p:nvPr/>
            </p:nvSpPr>
            <p:spPr>
              <a:xfrm>
                <a:off x="10908000" y="5775517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1</a:t>
                </a:r>
              </a:p>
            </p:txBody>
          </p:sp>
        </p:grpSp>
        <p:pic>
          <p:nvPicPr>
            <p:cNvPr id="6" name="Picture 2" descr="Qué es la metodología Agile y por qué está de moda? | Progressa Lean">
              <a:extLst>
                <a:ext uri="{FF2B5EF4-FFF2-40B4-BE49-F238E27FC236}">
                  <a16:creationId xmlns:a16="http://schemas.microsoft.com/office/drawing/2014/main" id="{075C59AA-57ED-0AB0-6EAB-65CC0C548B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1793" y="3598804"/>
              <a:ext cx="3311268" cy="3297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340FDD-1056-EA10-C222-AE27D9E1CF9F}"/>
              </a:ext>
            </a:extLst>
          </p:cNvPr>
          <p:cNvGrpSpPr/>
          <p:nvPr/>
        </p:nvGrpSpPr>
        <p:grpSpPr>
          <a:xfrm>
            <a:off x="-508891" y="0"/>
            <a:ext cx="11541600" cy="6858000"/>
            <a:chOff x="0" y="0"/>
            <a:chExt cx="11541600" cy="68580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E8A54F0-C4C9-7883-AAEF-F2D45C3368B7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4A2495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FDBCD44-D19B-B699-3908-02F7F2550C2A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C0E82EC-AFC3-F126-7F88-5D80AA613724}"/>
                  </a:ext>
                </a:extLst>
              </p:cNvPr>
              <p:cNvSpPr/>
              <p:nvPr/>
            </p:nvSpPr>
            <p:spPr>
              <a:xfrm>
                <a:off x="10692000" y="4655828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17204C-1250-D281-B330-789F7B782FAB}"/>
                </a:ext>
              </a:extLst>
            </p:cNvPr>
            <p:cNvSpPr txBox="1"/>
            <p:nvPr/>
          </p:nvSpPr>
          <p:spPr>
            <a:xfrm>
              <a:off x="5454000" y="40049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Fases de </a:t>
              </a:r>
              <a:r>
                <a:rPr lang="es-ES" sz="4000" b="1" dirty="0">
                  <a:latin typeface="Harlow Solid Italic" panose="04030604020F02020D02" pitchFamily="82" charset="0"/>
                </a:rPr>
                <a:t>las metodologías ágiles </a:t>
              </a:r>
              <a:endParaRPr lang="es-ES" sz="4000" b="1" noProof="0" dirty="0">
                <a:latin typeface="Harlow Solid Italic" panose="04030604020F02020D02" pitchFamily="82" charset="0"/>
              </a:endParaRP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A9FB44E6-3030-EF19-C529-AA2B123D5093}"/>
                </a:ext>
              </a:extLst>
            </p:cNvPr>
            <p:cNvSpPr txBox="1">
              <a:spLocks/>
            </p:cNvSpPr>
            <p:nvPr/>
          </p:nvSpPr>
          <p:spPr>
            <a:xfrm>
              <a:off x="5454000" y="2124435"/>
              <a:ext cx="4052857" cy="2521303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Análisis continuo y basado en historias de usuario.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Diseño evolutivo e incremental.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Implementación por </a:t>
              </a:r>
              <a:r>
                <a:rPr lang="es-ES" sz="1800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sprints</a:t>
              </a: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 con integración continua.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Pruebas continuas y automatizadas.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ligera y útil.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Explotación con despliegues frecuentes.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Mantenimiento continuo desde el backlog.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ACEFE4-44E5-3F0B-781C-40CECFDE89A3}"/>
                </a:ext>
              </a:extLst>
            </p:cNvPr>
            <p:cNvSpPr txBox="1"/>
            <p:nvPr/>
          </p:nvSpPr>
          <p:spPr>
            <a:xfrm>
              <a:off x="10910198" y="4674431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080D209-EA42-C4CD-6CB0-8DD7F2ACB7E1}"/>
              </a:ext>
            </a:extLst>
          </p:cNvPr>
          <p:cNvGrpSpPr/>
          <p:nvPr/>
        </p:nvGrpSpPr>
        <p:grpSpPr>
          <a:xfrm>
            <a:off x="-1434647" y="0"/>
            <a:ext cx="11541600" cy="6858000"/>
            <a:chOff x="0" y="0"/>
            <a:chExt cx="11541600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9A16773-12F1-257B-FC86-46A939EEB5FC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6B3DC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19B86D5-9302-B98B-E4A4-1F48482432CD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681D8151-02C4-D39F-F5AC-0BA70D5E0DF5}"/>
                  </a:ext>
                </a:extLst>
              </p:cNvPr>
              <p:cNvSpPr/>
              <p:nvPr/>
            </p:nvSpPr>
            <p:spPr>
              <a:xfrm>
                <a:off x="10692000" y="3554742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A6F376F-C846-6A25-D73D-FF95A89B1E35}"/>
                </a:ext>
              </a:extLst>
            </p:cNvPr>
            <p:cNvSpPr txBox="1"/>
            <p:nvPr/>
          </p:nvSpPr>
          <p:spPr>
            <a:xfrm>
              <a:off x="5454000" y="359727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Ventajas de las metodologías ágiles </a:t>
              </a: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9F567FD9-1237-6D62-FB64-CC2247E963AC}"/>
                </a:ext>
              </a:extLst>
            </p:cNvPr>
            <p:cNvSpPr txBox="1">
              <a:spLocks/>
            </p:cNvSpPr>
            <p:nvPr/>
          </p:nvSpPr>
          <p:spPr>
            <a:xfrm>
              <a:off x="5857943" y="2042893"/>
              <a:ext cx="5054856" cy="189076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calidad del producto.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Alta satisfacción del cliente.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Equipos más motivados.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Trabajo colaborativo.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Métricas más realistas.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control y predicción.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Reducción de costes y riesgos.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1600CEF-A789-ADC7-CAF7-6C39480F1AD1}"/>
                </a:ext>
              </a:extLst>
            </p:cNvPr>
            <p:cNvSpPr txBox="1"/>
            <p:nvPr/>
          </p:nvSpPr>
          <p:spPr>
            <a:xfrm>
              <a:off x="10908000" y="3573345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593FE4D-FAD3-F8F4-DAFB-4AE88F73F1CB}"/>
              </a:ext>
            </a:extLst>
          </p:cNvPr>
          <p:cNvGrpSpPr/>
          <p:nvPr/>
        </p:nvGrpSpPr>
        <p:grpSpPr>
          <a:xfrm>
            <a:off x="-8263847" y="5962"/>
            <a:ext cx="11541600" cy="6858000"/>
            <a:chOff x="0" y="0"/>
            <a:chExt cx="11541600" cy="6858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28BE8D8-8F95-257A-B6B2-0EDCCB21F4E0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8A64E0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10243EB-FC83-91FC-8791-74BCFC62B63E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A72842B1-0B2C-4FE4-94A1-19FA8624117D}"/>
                  </a:ext>
                </a:extLst>
              </p:cNvPr>
              <p:cNvSpPr/>
              <p:nvPr/>
            </p:nvSpPr>
            <p:spPr>
              <a:xfrm>
                <a:off x="10692000" y="2453656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0CCD770-F87E-FCF2-D8B2-29674E30609B}"/>
                </a:ext>
              </a:extLst>
            </p:cNvPr>
            <p:cNvSpPr txBox="1"/>
            <p:nvPr/>
          </p:nvSpPr>
          <p:spPr>
            <a:xfrm>
              <a:off x="5454000" y="28338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Desventajas de las metodologías ágiles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ABFF96D-F7BB-A8C6-BEE7-6B05D5970E37}"/>
                </a:ext>
              </a:extLst>
            </p:cNvPr>
            <p:cNvSpPr txBox="1"/>
            <p:nvPr/>
          </p:nvSpPr>
          <p:spPr>
            <a:xfrm>
              <a:off x="5454000" y="2201088"/>
              <a:ext cx="5019802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Difícil estimar tiempos y costes.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Requiere alta implicación del cliente.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Menos adecuado para equipos grandes.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limitada puede causar problemas</a:t>
              </a:r>
              <a:r>
                <a:rPr lang="es-ES" noProof="0" dirty="0"/>
                <a:t>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B227BD7-3CDA-E529-2BDD-978564D056C7}"/>
                </a:ext>
              </a:extLst>
            </p:cNvPr>
            <p:cNvSpPr txBox="1"/>
            <p:nvPr/>
          </p:nvSpPr>
          <p:spPr>
            <a:xfrm>
              <a:off x="10910198" y="2462957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4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953B0C-C6B1-0F24-98AE-FDE1E7CA4EDA}"/>
              </a:ext>
            </a:extLst>
          </p:cNvPr>
          <p:cNvGrpSpPr/>
          <p:nvPr/>
        </p:nvGrpSpPr>
        <p:grpSpPr>
          <a:xfrm>
            <a:off x="-9201012" y="0"/>
            <a:ext cx="11541600" cy="6858000"/>
            <a:chOff x="0" y="0"/>
            <a:chExt cx="11541600" cy="68580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DEBBFB1-9A0C-2E86-835B-40AA4D47704D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A98CE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3AAE10C-F493-A87E-844F-B6E7A757D606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B3B6789E-48EC-D5A3-193C-4718890827D4}"/>
                  </a:ext>
                </a:extLst>
              </p:cNvPr>
              <p:cNvSpPr/>
              <p:nvPr/>
            </p:nvSpPr>
            <p:spPr>
              <a:xfrm>
                <a:off x="10692000" y="1352570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32DF3E3-7A31-2B11-2CBA-813E9D88173E}"/>
                </a:ext>
              </a:extLst>
            </p:cNvPr>
            <p:cNvSpPr txBox="1"/>
            <p:nvPr/>
          </p:nvSpPr>
          <p:spPr>
            <a:xfrm>
              <a:off x="5841486" y="34053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Cuando usar las metodologías ágiles </a:t>
              </a:r>
            </a:p>
          </p:txBody>
        </p:sp>
        <p:sp>
          <p:nvSpPr>
            <p:cNvPr id="47" name="Content Placeholder 2">
              <a:extLst>
                <a:ext uri="{FF2B5EF4-FFF2-40B4-BE49-F238E27FC236}">
                  <a16:creationId xmlns:a16="http://schemas.microsoft.com/office/drawing/2014/main" id="{46CF8D91-E343-68EC-48DC-CFFBEA4D0548}"/>
                </a:ext>
              </a:extLst>
            </p:cNvPr>
            <p:cNvSpPr txBox="1">
              <a:spLocks/>
            </p:cNvSpPr>
            <p:nvPr/>
          </p:nvSpPr>
          <p:spPr>
            <a:xfrm>
              <a:off x="5761914" y="2004515"/>
              <a:ext cx="5370800" cy="284897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Proyectos con requisitos cambiantes.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Startups y validación rápida.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Apps, plataformas y software.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Transformación digital.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Necesidad de resultados frecuentes.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BD085CE-0485-3C13-20BC-A85B043F1428}"/>
                </a:ext>
              </a:extLst>
            </p:cNvPr>
            <p:cNvSpPr txBox="1"/>
            <p:nvPr/>
          </p:nvSpPr>
          <p:spPr>
            <a:xfrm>
              <a:off x="10910198" y="1352570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5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87DC16D-EB07-D933-335F-6275AEC8ED0E}"/>
              </a:ext>
            </a:extLst>
          </p:cNvPr>
          <p:cNvGrpSpPr/>
          <p:nvPr/>
        </p:nvGrpSpPr>
        <p:grpSpPr>
          <a:xfrm>
            <a:off x="-10138177" y="0"/>
            <a:ext cx="11541600" cy="6858000"/>
            <a:chOff x="-4106489" y="-12641"/>
            <a:chExt cx="11541600" cy="6858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979C9DE-159A-FFEA-5C9A-E14E046B58DE}"/>
                </a:ext>
              </a:extLst>
            </p:cNvPr>
            <p:cNvGrpSpPr/>
            <p:nvPr/>
          </p:nvGrpSpPr>
          <p:grpSpPr>
            <a:xfrm>
              <a:off x="-4106489" y="-12641"/>
              <a:ext cx="11541600" cy="6858000"/>
              <a:chOff x="0" y="0"/>
              <a:chExt cx="11541600" cy="6858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863C8D8-3805-0CD3-076E-EE83E1B784F0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61B763E-9CE4-4B71-9842-170DBF37AA8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055193FA-79B3-C1BB-5522-EC51011A8B25}"/>
                    </a:ext>
                  </a:extLst>
                </p:cNvPr>
                <p:cNvSpPr/>
                <p:nvPr/>
              </p:nvSpPr>
              <p:spPr>
                <a:xfrm>
                  <a:off x="10692000" y="251484"/>
                  <a:ext cx="849600" cy="849600"/>
                </a:xfrm>
                <a:prstGeom prst="round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55A750-954F-0F34-8984-F2055010D740}"/>
                  </a:ext>
                </a:extLst>
              </p:cNvPr>
              <p:cNvSpPr txBox="1"/>
              <p:nvPr/>
            </p:nvSpPr>
            <p:spPr>
              <a:xfrm>
                <a:off x="5454000" y="251484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Metodologías ágiles m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s comunes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778764-D304-5414-948D-B0F843278E16}"/>
                  </a:ext>
                </a:extLst>
              </p:cNvPr>
              <p:cNvSpPr txBox="1"/>
              <p:nvPr/>
            </p:nvSpPr>
            <p:spPr>
              <a:xfrm>
                <a:off x="5454000" y="2228671"/>
                <a:ext cx="470263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Scrum: trabajo por </a:t>
                </a:r>
                <a:r>
                  <a:rPr lang="es-ES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sprints</a:t>
                </a:r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y roles definidos.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Kanban: flujo visual y límite de tareas.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XP: excelencia técnica y pruebas continuas.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Lean: eliminación de desperdicio.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AD6B885-8192-6A31-08DB-E4312F12527C}"/>
                  </a:ext>
                </a:extLst>
              </p:cNvPr>
              <p:cNvSpPr txBox="1"/>
              <p:nvPr/>
            </p:nvSpPr>
            <p:spPr>
              <a:xfrm>
                <a:off x="10910198" y="251484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6</a:t>
                </a:r>
              </a:p>
            </p:txBody>
          </p:sp>
        </p:grpSp>
        <p:pic>
          <p:nvPicPr>
            <p:cNvPr id="13" name="Picture 12" descr="Professional Scrum Master™ I Certification | Scrum.org">
              <a:extLst>
                <a:ext uri="{FF2B5EF4-FFF2-40B4-BE49-F238E27FC236}">
                  <a16:creationId xmlns:a16="http://schemas.microsoft.com/office/drawing/2014/main" id="{B4F7D925-2465-D666-1D26-90D765CC9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3275" y="3498054"/>
              <a:ext cx="2676909" cy="2676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10689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0BCA5-1C70-ADA4-E6F2-FD150338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1F72AA5-3874-535F-8B97-18AA5855332E}"/>
              </a:ext>
            </a:extLst>
          </p:cNvPr>
          <p:cNvGrpSpPr/>
          <p:nvPr/>
        </p:nvGrpSpPr>
        <p:grpSpPr>
          <a:xfrm>
            <a:off x="448709" y="0"/>
            <a:ext cx="11541600" cy="6896100"/>
            <a:chOff x="-807875" y="0"/>
            <a:chExt cx="11541600" cy="68961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FD062FB-0DC8-D53C-7DFE-0F195ECC78F1}"/>
                </a:ext>
              </a:extLst>
            </p:cNvPr>
            <p:cNvGrpSpPr/>
            <p:nvPr/>
          </p:nvGrpSpPr>
          <p:grpSpPr>
            <a:xfrm>
              <a:off x="-807875" y="0"/>
              <a:ext cx="11541600" cy="6858000"/>
              <a:chOff x="0" y="0"/>
              <a:chExt cx="11541600" cy="68580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774EFEC-15D1-AE50-FBED-35C3536DB9DE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solidFill>
                <a:srgbClr val="2A135A"/>
              </a:solidFill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B30E03E-5BBB-F610-A92C-B6D50034402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5A30AD32-A05A-EBB8-0519-AD6D1EC5F0C6}"/>
                    </a:ext>
                  </a:extLst>
                </p:cNvPr>
                <p:cNvSpPr/>
                <p:nvPr/>
              </p:nvSpPr>
              <p:spPr>
                <a:xfrm>
                  <a:off x="10692000" y="5756914"/>
                  <a:ext cx="849600" cy="8496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82381E-BA2F-7292-EC21-95FCBC315D6E}"/>
                  </a:ext>
                </a:extLst>
              </p:cNvPr>
              <p:cNvSpPr txBox="1"/>
              <p:nvPr/>
            </p:nvSpPr>
            <p:spPr>
              <a:xfrm>
                <a:off x="5454000" y="476196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¿</a:t>
                </a:r>
                <a:r>
                  <a:rPr lang="en-US" sz="4000" b="1" dirty="0" err="1">
                    <a:latin typeface="Harlow Solid Italic" panose="04030604020F02020D02" pitchFamily="82" charset="0"/>
                  </a:rPr>
                  <a:t>Qué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 son las metodologías 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giles?</a:t>
                </a:r>
              </a:p>
            </p:txBody>
          </p:sp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54F8FB21-A4B0-0675-6D83-6AD6994C46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75947" y="1900385"/>
                <a:ext cx="4833000" cy="159766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Conjunto de enfoques flexibles para gestionar proyectos.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Basadas en colaboración, adaptación y entrega continua.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Alternativa a métodos rígidos como el modelo en cascada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0D4C35-BD3A-9653-34F1-4028FA51755C}"/>
                  </a:ext>
                </a:extLst>
              </p:cNvPr>
              <p:cNvSpPr txBox="1"/>
              <p:nvPr/>
            </p:nvSpPr>
            <p:spPr>
              <a:xfrm>
                <a:off x="10908000" y="5775517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1</a:t>
                </a:r>
              </a:p>
            </p:txBody>
          </p:sp>
        </p:grpSp>
        <p:pic>
          <p:nvPicPr>
            <p:cNvPr id="6" name="Picture 2" descr="Qué es la metodología Agile y por qué está de moda? | Progressa Lean">
              <a:extLst>
                <a:ext uri="{FF2B5EF4-FFF2-40B4-BE49-F238E27FC236}">
                  <a16:creationId xmlns:a16="http://schemas.microsoft.com/office/drawing/2014/main" id="{7BB8158E-500C-642F-3FF0-857F9FE67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1793" y="3598804"/>
              <a:ext cx="3311268" cy="3297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088F89-4E3F-3DFC-BEB5-8CB13D2FA4E2}"/>
              </a:ext>
            </a:extLst>
          </p:cNvPr>
          <p:cNvGrpSpPr/>
          <p:nvPr/>
        </p:nvGrpSpPr>
        <p:grpSpPr>
          <a:xfrm>
            <a:off x="-508891" y="0"/>
            <a:ext cx="11541600" cy="6858000"/>
            <a:chOff x="0" y="0"/>
            <a:chExt cx="11541600" cy="68580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E4EB713-E759-BDDE-41C0-C726DB139F45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4A2495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22B2974-F20F-4BA1-DE1A-B34C3CF666E3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487B3DC4-5F4F-1F45-1F41-83B373A8C93E}"/>
                  </a:ext>
                </a:extLst>
              </p:cNvPr>
              <p:cNvSpPr/>
              <p:nvPr/>
            </p:nvSpPr>
            <p:spPr>
              <a:xfrm>
                <a:off x="10692000" y="4655828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D8D7711-65B7-C625-CA91-2613AE216AA4}"/>
                </a:ext>
              </a:extLst>
            </p:cNvPr>
            <p:cNvSpPr txBox="1"/>
            <p:nvPr/>
          </p:nvSpPr>
          <p:spPr>
            <a:xfrm>
              <a:off x="5454000" y="40049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Fases de </a:t>
              </a:r>
              <a:r>
                <a:rPr lang="es-ES" sz="4000" b="1" dirty="0">
                  <a:latin typeface="Harlow Solid Italic" panose="04030604020F02020D02" pitchFamily="82" charset="0"/>
                </a:rPr>
                <a:t>las metodologías ágiles </a:t>
              </a:r>
              <a:endParaRPr lang="es-ES" sz="4000" b="1" noProof="0" dirty="0">
                <a:latin typeface="Harlow Solid Italic" panose="04030604020F02020D02" pitchFamily="82" charset="0"/>
              </a:endParaRP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D50F1F30-545A-3052-9E02-FFB61B8022A7}"/>
                </a:ext>
              </a:extLst>
            </p:cNvPr>
            <p:cNvSpPr txBox="1">
              <a:spLocks/>
            </p:cNvSpPr>
            <p:nvPr/>
          </p:nvSpPr>
          <p:spPr>
            <a:xfrm>
              <a:off x="5454000" y="2124435"/>
              <a:ext cx="4052857" cy="2521303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Análisis continuo y basado en historias de usuario.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Diseño evolutivo e incremental.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Implementación por </a:t>
              </a:r>
              <a:r>
                <a:rPr lang="es-ES" sz="1800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sprints</a:t>
              </a: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 con integración continua.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Pruebas continuas y automatizadas.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ligera y útil.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Explotación con despliegues frecuentes.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Mantenimiento continuo desde el backlog.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F8FD347-82AF-057B-614A-2461EA6CCE4C}"/>
                </a:ext>
              </a:extLst>
            </p:cNvPr>
            <p:cNvSpPr txBox="1"/>
            <p:nvPr/>
          </p:nvSpPr>
          <p:spPr>
            <a:xfrm>
              <a:off x="10910198" y="4674431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A4C3AD0-B319-514A-1423-CB0A97878948}"/>
              </a:ext>
            </a:extLst>
          </p:cNvPr>
          <p:cNvGrpSpPr/>
          <p:nvPr/>
        </p:nvGrpSpPr>
        <p:grpSpPr>
          <a:xfrm>
            <a:off x="-1434647" y="0"/>
            <a:ext cx="11541600" cy="6858000"/>
            <a:chOff x="0" y="0"/>
            <a:chExt cx="11541600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465E478-E090-90A7-7A8D-8A1FA2098239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6B3DC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CE94EFA-C979-0922-6E7D-D4255A49A191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4629D0BA-7BC4-E331-7965-695A032A3F32}"/>
                  </a:ext>
                </a:extLst>
              </p:cNvPr>
              <p:cNvSpPr/>
              <p:nvPr/>
            </p:nvSpPr>
            <p:spPr>
              <a:xfrm>
                <a:off x="10692000" y="3554742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F1C8AE-FB22-F7F2-A56E-0F1C662A58B6}"/>
                </a:ext>
              </a:extLst>
            </p:cNvPr>
            <p:cNvSpPr txBox="1"/>
            <p:nvPr/>
          </p:nvSpPr>
          <p:spPr>
            <a:xfrm>
              <a:off x="5454000" y="359727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Ventajas de las metodologías ágiles </a:t>
              </a: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7850661C-464E-8F6E-7C69-77BD0DF56123}"/>
                </a:ext>
              </a:extLst>
            </p:cNvPr>
            <p:cNvSpPr txBox="1">
              <a:spLocks/>
            </p:cNvSpPr>
            <p:nvPr/>
          </p:nvSpPr>
          <p:spPr>
            <a:xfrm>
              <a:off x="5857943" y="2042893"/>
              <a:ext cx="5054856" cy="189076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calidad del producto.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Alta satisfacción del cliente.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Equipos más motivados.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Trabajo colaborativo.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Métricas más realistas.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control y predicción.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Reducción de costes y riesgos.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1FAF48D-1CC2-9AF8-3A14-9A7EB0136E06}"/>
                </a:ext>
              </a:extLst>
            </p:cNvPr>
            <p:cNvSpPr txBox="1"/>
            <p:nvPr/>
          </p:nvSpPr>
          <p:spPr>
            <a:xfrm>
              <a:off x="10908000" y="3573345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1CF4CA9-D598-BB48-609F-61AEA3C5297E}"/>
              </a:ext>
            </a:extLst>
          </p:cNvPr>
          <p:cNvGrpSpPr/>
          <p:nvPr/>
        </p:nvGrpSpPr>
        <p:grpSpPr>
          <a:xfrm>
            <a:off x="-2335932" y="5962"/>
            <a:ext cx="11541600" cy="6858000"/>
            <a:chOff x="0" y="0"/>
            <a:chExt cx="11541600" cy="6858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BA255BD-6517-BE08-1BA5-625A406D381D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8A64E0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44A700D-78A2-7D6B-9D91-65E3C905C1CC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33E27C16-381F-81AF-ADC0-CF0317A96369}"/>
                  </a:ext>
                </a:extLst>
              </p:cNvPr>
              <p:cNvSpPr/>
              <p:nvPr/>
            </p:nvSpPr>
            <p:spPr>
              <a:xfrm>
                <a:off x="10692000" y="2453656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1188825-79E5-4315-F626-E949500E7C4A}"/>
                </a:ext>
              </a:extLst>
            </p:cNvPr>
            <p:cNvSpPr txBox="1"/>
            <p:nvPr/>
          </p:nvSpPr>
          <p:spPr>
            <a:xfrm>
              <a:off x="5454000" y="28338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Desventajas de las metodologías ágiles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9242353-D26A-FD0B-F826-C6DC07802C33}"/>
                </a:ext>
              </a:extLst>
            </p:cNvPr>
            <p:cNvSpPr txBox="1"/>
            <p:nvPr/>
          </p:nvSpPr>
          <p:spPr>
            <a:xfrm>
              <a:off x="5454000" y="2201088"/>
              <a:ext cx="5019802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Difícil estimar tiempos y costes.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Requiere alta implicación del cliente.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Menos adecuado para equipos grandes.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limitada puede causar problemas</a:t>
              </a:r>
              <a:r>
                <a:rPr lang="es-ES" noProof="0" dirty="0"/>
                <a:t>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F2C85A-21C9-2404-58F4-3534BD51B422}"/>
                </a:ext>
              </a:extLst>
            </p:cNvPr>
            <p:cNvSpPr txBox="1"/>
            <p:nvPr/>
          </p:nvSpPr>
          <p:spPr>
            <a:xfrm>
              <a:off x="10910198" y="2462957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4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19EBA55-C48A-0B52-937D-01FB574CD28D}"/>
              </a:ext>
            </a:extLst>
          </p:cNvPr>
          <p:cNvGrpSpPr/>
          <p:nvPr/>
        </p:nvGrpSpPr>
        <p:grpSpPr>
          <a:xfrm>
            <a:off x="-9201012" y="0"/>
            <a:ext cx="11541600" cy="6858000"/>
            <a:chOff x="0" y="0"/>
            <a:chExt cx="11541600" cy="68580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7A95715-5379-29C3-BB6E-8237BAC6EEA9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A98CE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755D8F2-1AE4-2DD0-8539-40AA03A181A1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988696DE-E076-E21D-2B40-634F63EE91AF}"/>
                  </a:ext>
                </a:extLst>
              </p:cNvPr>
              <p:cNvSpPr/>
              <p:nvPr/>
            </p:nvSpPr>
            <p:spPr>
              <a:xfrm>
                <a:off x="10692000" y="1352570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9D3103C-E512-495D-E010-7FC8E0270D75}"/>
                </a:ext>
              </a:extLst>
            </p:cNvPr>
            <p:cNvSpPr txBox="1"/>
            <p:nvPr/>
          </p:nvSpPr>
          <p:spPr>
            <a:xfrm>
              <a:off x="5841486" y="34053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Cuando usar las metodologías ágiles </a:t>
              </a:r>
            </a:p>
          </p:txBody>
        </p:sp>
        <p:sp>
          <p:nvSpPr>
            <p:cNvPr id="47" name="Content Placeholder 2">
              <a:extLst>
                <a:ext uri="{FF2B5EF4-FFF2-40B4-BE49-F238E27FC236}">
                  <a16:creationId xmlns:a16="http://schemas.microsoft.com/office/drawing/2014/main" id="{65366FC2-AD73-0EF1-FC62-8E986A80ABBD}"/>
                </a:ext>
              </a:extLst>
            </p:cNvPr>
            <p:cNvSpPr txBox="1">
              <a:spLocks/>
            </p:cNvSpPr>
            <p:nvPr/>
          </p:nvSpPr>
          <p:spPr>
            <a:xfrm>
              <a:off x="5761914" y="2004515"/>
              <a:ext cx="5370800" cy="284897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Proyectos con requisitos cambiantes.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Startups y validación rápida.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Apps, plataformas y software.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Transformación digital.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Necesidad de resultados frecuentes.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E9667A0-AA31-3028-8591-19C81392FC02}"/>
                </a:ext>
              </a:extLst>
            </p:cNvPr>
            <p:cNvSpPr txBox="1"/>
            <p:nvPr/>
          </p:nvSpPr>
          <p:spPr>
            <a:xfrm>
              <a:off x="10910198" y="1352570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5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238F324-7360-2149-5023-37DE8D3928BA}"/>
              </a:ext>
            </a:extLst>
          </p:cNvPr>
          <p:cNvGrpSpPr/>
          <p:nvPr/>
        </p:nvGrpSpPr>
        <p:grpSpPr>
          <a:xfrm>
            <a:off x="-10100099" y="5962"/>
            <a:ext cx="11541600" cy="6858000"/>
            <a:chOff x="-4106489" y="-12641"/>
            <a:chExt cx="11541600" cy="6858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E8F4513-D1C5-3B48-D443-7E967E8D1DA2}"/>
                </a:ext>
              </a:extLst>
            </p:cNvPr>
            <p:cNvGrpSpPr/>
            <p:nvPr/>
          </p:nvGrpSpPr>
          <p:grpSpPr>
            <a:xfrm>
              <a:off x="-4106489" y="-12641"/>
              <a:ext cx="11541600" cy="6858000"/>
              <a:chOff x="0" y="0"/>
              <a:chExt cx="11541600" cy="6858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E95A88-DC32-B817-2E73-30E51FB00C6A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64B13BC4-863D-7BF1-3B2A-0F8C42F9C8D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6DA83EA7-4384-5E69-D5AC-A1CBFFBAEF2E}"/>
                    </a:ext>
                  </a:extLst>
                </p:cNvPr>
                <p:cNvSpPr/>
                <p:nvPr/>
              </p:nvSpPr>
              <p:spPr>
                <a:xfrm>
                  <a:off x="10692000" y="251484"/>
                  <a:ext cx="849600" cy="849600"/>
                </a:xfrm>
                <a:prstGeom prst="round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9403F1-7828-D1CC-A7C0-4E458A5B44D5}"/>
                  </a:ext>
                </a:extLst>
              </p:cNvPr>
              <p:cNvSpPr txBox="1"/>
              <p:nvPr/>
            </p:nvSpPr>
            <p:spPr>
              <a:xfrm>
                <a:off x="5454000" y="251484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Metodologías ágiles m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s comunes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C3AA04-4DF1-C8B8-D7BC-FFECB5DF665C}"/>
                  </a:ext>
                </a:extLst>
              </p:cNvPr>
              <p:cNvSpPr txBox="1"/>
              <p:nvPr/>
            </p:nvSpPr>
            <p:spPr>
              <a:xfrm>
                <a:off x="5454000" y="2228671"/>
                <a:ext cx="470263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Scrum: trabajo por </a:t>
                </a:r>
                <a:r>
                  <a:rPr lang="es-ES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sprints</a:t>
                </a:r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y roles definidos.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Kanban: flujo visual y límite de tareas.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XP: excelencia técnica y pruebas continuas.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Lean: eliminación de desperdicio.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DB20D8-BF18-6BF0-35CC-D943CF4A7713}"/>
                  </a:ext>
                </a:extLst>
              </p:cNvPr>
              <p:cNvSpPr txBox="1"/>
              <p:nvPr/>
            </p:nvSpPr>
            <p:spPr>
              <a:xfrm>
                <a:off x="10910198" y="251484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6</a:t>
                </a:r>
              </a:p>
            </p:txBody>
          </p:sp>
        </p:grpSp>
        <p:pic>
          <p:nvPicPr>
            <p:cNvPr id="13" name="Picture 12" descr="Professional Scrum Master™ I Certification | Scrum.org">
              <a:extLst>
                <a:ext uri="{FF2B5EF4-FFF2-40B4-BE49-F238E27FC236}">
                  <a16:creationId xmlns:a16="http://schemas.microsoft.com/office/drawing/2014/main" id="{918109B1-5C6D-4050-B012-EA106498B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3275" y="3498054"/>
              <a:ext cx="2676909" cy="2676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25160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56ABD-1169-576C-82AA-D03E9DF0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EDAEB56-FA69-3B55-B3D3-8C19674EB078}"/>
              </a:ext>
            </a:extLst>
          </p:cNvPr>
          <p:cNvGrpSpPr/>
          <p:nvPr/>
        </p:nvGrpSpPr>
        <p:grpSpPr>
          <a:xfrm>
            <a:off x="448709" y="0"/>
            <a:ext cx="11541600" cy="6896100"/>
            <a:chOff x="-807875" y="0"/>
            <a:chExt cx="11541600" cy="68961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6DD33F-21D6-D02E-41B6-0F6E919BBA8D}"/>
                </a:ext>
              </a:extLst>
            </p:cNvPr>
            <p:cNvGrpSpPr/>
            <p:nvPr/>
          </p:nvGrpSpPr>
          <p:grpSpPr>
            <a:xfrm>
              <a:off x="-807875" y="0"/>
              <a:ext cx="11541600" cy="6858000"/>
              <a:chOff x="0" y="0"/>
              <a:chExt cx="11541600" cy="68580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CD89E42-B944-092C-FFC3-2627D0D1534A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solidFill>
                <a:srgbClr val="2A135A"/>
              </a:solidFill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FD2EEF2-C338-9B28-73F5-8CC9FB2DCA6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F09204A3-60E8-B6ED-56D6-694DA8F61ABA}"/>
                    </a:ext>
                  </a:extLst>
                </p:cNvPr>
                <p:cNvSpPr/>
                <p:nvPr/>
              </p:nvSpPr>
              <p:spPr>
                <a:xfrm>
                  <a:off x="10692000" y="5756914"/>
                  <a:ext cx="849600" cy="8496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294183-1060-9075-9787-B0B906533642}"/>
                  </a:ext>
                </a:extLst>
              </p:cNvPr>
              <p:cNvSpPr txBox="1"/>
              <p:nvPr/>
            </p:nvSpPr>
            <p:spPr>
              <a:xfrm>
                <a:off x="5454000" y="476196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¿</a:t>
                </a:r>
                <a:r>
                  <a:rPr lang="en-US" sz="4000" b="1" dirty="0" err="1">
                    <a:latin typeface="Harlow Solid Italic" panose="04030604020F02020D02" pitchFamily="82" charset="0"/>
                  </a:rPr>
                  <a:t>Qué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 son las metodologías 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giles?</a:t>
                </a:r>
              </a:p>
            </p:txBody>
          </p:sp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BBCC4D2-5FFA-3B45-563D-CC7088DD5F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75947" y="1900385"/>
                <a:ext cx="4833000" cy="159766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Conjunto de enfoques flexibles para gestionar proyectos.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Basadas en colaboración, adaptación y entrega continua.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Alternativa a métodos rígidos como el modelo en cascada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9D82CC-E394-604B-5F62-807F4B021217}"/>
                  </a:ext>
                </a:extLst>
              </p:cNvPr>
              <p:cNvSpPr txBox="1"/>
              <p:nvPr/>
            </p:nvSpPr>
            <p:spPr>
              <a:xfrm>
                <a:off x="10908000" y="5775517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1</a:t>
                </a:r>
              </a:p>
            </p:txBody>
          </p:sp>
        </p:grpSp>
        <p:pic>
          <p:nvPicPr>
            <p:cNvPr id="6" name="Picture 2" descr="Qué es la metodología Agile y por qué está de moda? | Progressa Lean">
              <a:extLst>
                <a:ext uri="{FF2B5EF4-FFF2-40B4-BE49-F238E27FC236}">
                  <a16:creationId xmlns:a16="http://schemas.microsoft.com/office/drawing/2014/main" id="{7549AF13-D8BF-EDF0-DB9A-38BB3DD9EC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1793" y="3598804"/>
              <a:ext cx="3311268" cy="3297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66B3B9C-5913-3442-DE48-E2F6E5A49EC7}"/>
              </a:ext>
            </a:extLst>
          </p:cNvPr>
          <p:cNvGrpSpPr/>
          <p:nvPr/>
        </p:nvGrpSpPr>
        <p:grpSpPr>
          <a:xfrm>
            <a:off x="-508891" y="0"/>
            <a:ext cx="11541600" cy="6858000"/>
            <a:chOff x="0" y="0"/>
            <a:chExt cx="11541600" cy="68580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115C875-8AE0-F64E-A39B-C4C5447E1183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4A2495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F8DAD7D-28C3-E96A-9562-CAB5392FE6B5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6214BC4C-511C-EDD7-CECB-D4FC3FA59C61}"/>
                  </a:ext>
                </a:extLst>
              </p:cNvPr>
              <p:cNvSpPr/>
              <p:nvPr/>
            </p:nvSpPr>
            <p:spPr>
              <a:xfrm>
                <a:off x="10692000" y="4655828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68D57C4-018A-FFE6-21BC-71EA93A4219B}"/>
                </a:ext>
              </a:extLst>
            </p:cNvPr>
            <p:cNvSpPr txBox="1"/>
            <p:nvPr/>
          </p:nvSpPr>
          <p:spPr>
            <a:xfrm>
              <a:off x="5454000" y="40049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Fases de </a:t>
              </a:r>
              <a:r>
                <a:rPr lang="es-ES" sz="4000" b="1" dirty="0">
                  <a:latin typeface="Harlow Solid Italic" panose="04030604020F02020D02" pitchFamily="82" charset="0"/>
                </a:rPr>
                <a:t>las metodologías ágiles </a:t>
              </a:r>
              <a:endParaRPr lang="es-ES" sz="4000" b="1" noProof="0" dirty="0">
                <a:latin typeface="Harlow Solid Italic" panose="04030604020F02020D02" pitchFamily="82" charset="0"/>
              </a:endParaRP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4A425098-D158-A3EA-B01B-06A79B214CCE}"/>
                </a:ext>
              </a:extLst>
            </p:cNvPr>
            <p:cNvSpPr txBox="1">
              <a:spLocks/>
            </p:cNvSpPr>
            <p:nvPr/>
          </p:nvSpPr>
          <p:spPr>
            <a:xfrm>
              <a:off x="5454000" y="2124435"/>
              <a:ext cx="4052857" cy="2521303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Análisis continuo y basado en historias de usuario.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Diseño evolutivo e incremental.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Implementación por </a:t>
              </a:r>
              <a:r>
                <a:rPr lang="es-ES" sz="1800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sprints</a:t>
              </a: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 con integración continua.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Pruebas continuas y automatizadas.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ligera y útil.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Explotación con despliegues frecuentes.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Mantenimiento continuo desde el backlog.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0239368-6156-59A8-1E0D-BC3296E4DFE7}"/>
                </a:ext>
              </a:extLst>
            </p:cNvPr>
            <p:cNvSpPr txBox="1"/>
            <p:nvPr/>
          </p:nvSpPr>
          <p:spPr>
            <a:xfrm>
              <a:off x="10910198" y="4674431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719E968-0DA6-347D-0BA0-E91BDC9A425F}"/>
              </a:ext>
            </a:extLst>
          </p:cNvPr>
          <p:cNvGrpSpPr/>
          <p:nvPr/>
        </p:nvGrpSpPr>
        <p:grpSpPr>
          <a:xfrm>
            <a:off x="-1434647" y="0"/>
            <a:ext cx="11541600" cy="6858000"/>
            <a:chOff x="0" y="0"/>
            <a:chExt cx="11541600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4947FAA-2A00-6A9D-6976-E0C5FFD7EC4F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6B3DC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B1E494F-D9E2-FEB3-806C-D69C36FC0FFF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802B4CC4-B800-4738-B82C-2E432B8AB483}"/>
                  </a:ext>
                </a:extLst>
              </p:cNvPr>
              <p:cNvSpPr/>
              <p:nvPr/>
            </p:nvSpPr>
            <p:spPr>
              <a:xfrm>
                <a:off x="10692000" y="3554742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EC44596-6D64-0CA2-40A4-43537D33DC03}"/>
                </a:ext>
              </a:extLst>
            </p:cNvPr>
            <p:cNvSpPr txBox="1"/>
            <p:nvPr/>
          </p:nvSpPr>
          <p:spPr>
            <a:xfrm>
              <a:off x="5454000" y="359727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Ventajas de las metodologías ágiles </a:t>
              </a: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020E260E-BFA9-2329-F689-99A500853911}"/>
                </a:ext>
              </a:extLst>
            </p:cNvPr>
            <p:cNvSpPr txBox="1">
              <a:spLocks/>
            </p:cNvSpPr>
            <p:nvPr/>
          </p:nvSpPr>
          <p:spPr>
            <a:xfrm>
              <a:off x="5857943" y="2042893"/>
              <a:ext cx="5054856" cy="189076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calidad del producto.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Alta satisfacción del cliente.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Equipos más motivados.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Trabajo colaborativo.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Métricas más realistas.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control y predicción.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Reducción de costes y riesgos.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3AF082-0582-F167-7A06-163EBF7E5FD7}"/>
                </a:ext>
              </a:extLst>
            </p:cNvPr>
            <p:cNvSpPr txBox="1"/>
            <p:nvPr/>
          </p:nvSpPr>
          <p:spPr>
            <a:xfrm>
              <a:off x="10908000" y="3573345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7BBE017-E582-BAE8-4FE3-496FE5630E01}"/>
              </a:ext>
            </a:extLst>
          </p:cNvPr>
          <p:cNvGrpSpPr/>
          <p:nvPr/>
        </p:nvGrpSpPr>
        <p:grpSpPr>
          <a:xfrm>
            <a:off x="-2335932" y="5962"/>
            <a:ext cx="11541600" cy="6858000"/>
            <a:chOff x="0" y="0"/>
            <a:chExt cx="11541600" cy="6858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F77B94A-536B-BF81-3B25-92AC067573DD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8A64E0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0E9EC89-CA00-C51D-E3F7-9115241241D5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935742F8-337D-B34D-8762-3C71ABBDA491}"/>
                  </a:ext>
                </a:extLst>
              </p:cNvPr>
              <p:cNvSpPr/>
              <p:nvPr/>
            </p:nvSpPr>
            <p:spPr>
              <a:xfrm>
                <a:off x="10692000" y="2453656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FFFD43-8BEE-0D70-155D-11FA181BA251}"/>
                </a:ext>
              </a:extLst>
            </p:cNvPr>
            <p:cNvSpPr txBox="1"/>
            <p:nvPr/>
          </p:nvSpPr>
          <p:spPr>
            <a:xfrm>
              <a:off x="5454000" y="28338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Desventajas de las metodologías ágiles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D7B8F72-8C5E-8178-83F9-46DE223CF8FA}"/>
                </a:ext>
              </a:extLst>
            </p:cNvPr>
            <p:cNvSpPr txBox="1"/>
            <p:nvPr/>
          </p:nvSpPr>
          <p:spPr>
            <a:xfrm>
              <a:off x="5454000" y="2201088"/>
              <a:ext cx="5019802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Difícil estimar tiempos y costes.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Requiere alta implicación del cliente.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Menos adecuado para equipos grandes.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limitada puede causar problemas</a:t>
              </a:r>
              <a:r>
                <a:rPr lang="es-ES" noProof="0" dirty="0"/>
                <a:t>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BF3287C-E4FB-2D96-7AEC-606BEF1EBDBC}"/>
                </a:ext>
              </a:extLst>
            </p:cNvPr>
            <p:cNvSpPr txBox="1"/>
            <p:nvPr/>
          </p:nvSpPr>
          <p:spPr>
            <a:xfrm>
              <a:off x="10910198" y="2462957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4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639C004-3BB0-F350-8E22-36467323E114}"/>
              </a:ext>
            </a:extLst>
          </p:cNvPr>
          <p:cNvGrpSpPr/>
          <p:nvPr/>
        </p:nvGrpSpPr>
        <p:grpSpPr>
          <a:xfrm>
            <a:off x="-3252840" y="0"/>
            <a:ext cx="11541600" cy="6858000"/>
            <a:chOff x="0" y="0"/>
            <a:chExt cx="11541600" cy="68580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E2291F3-2342-69D2-F959-2F994DE290D6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A98CE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6A42F4C-0865-D4F2-DA6B-6FEAE2C5D8D9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C1EA5C72-9A95-4199-30B2-3C020A46B16D}"/>
                  </a:ext>
                </a:extLst>
              </p:cNvPr>
              <p:cNvSpPr/>
              <p:nvPr/>
            </p:nvSpPr>
            <p:spPr>
              <a:xfrm>
                <a:off x="10692000" y="1352570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278D27B-8B1E-BFC7-FD21-63936D416C6F}"/>
                </a:ext>
              </a:extLst>
            </p:cNvPr>
            <p:cNvSpPr txBox="1"/>
            <p:nvPr/>
          </p:nvSpPr>
          <p:spPr>
            <a:xfrm>
              <a:off x="5841486" y="34053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Cuando usar las metodologías ágiles </a:t>
              </a:r>
            </a:p>
          </p:txBody>
        </p:sp>
        <p:sp>
          <p:nvSpPr>
            <p:cNvPr id="47" name="Content Placeholder 2">
              <a:extLst>
                <a:ext uri="{FF2B5EF4-FFF2-40B4-BE49-F238E27FC236}">
                  <a16:creationId xmlns:a16="http://schemas.microsoft.com/office/drawing/2014/main" id="{AD3D35A0-7C06-0678-140D-B01511B008EA}"/>
                </a:ext>
              </a:extLst>
            </p:cNvPr>
            <p:cNvSpPr txBox="1">
              <a:spLocks/>
            </p:cNvSpPr>
            <p:nvPr/>
          </p:nvSpPr>
          <p:spPr>
            <a:xfrm>
              <a:off x="5761914" y="2004515"/>
              <a:ext cx="5370800" cy="284897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Proyectos con requisitos cambiantes.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Startups y validación rápida.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Apps, plataformas y software.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Transformación digital.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Necesidad de resultados frecuentes.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A3D2DD8-F50C-2F9D-E04A-0A878D52DCE4}"/>
                </a:ext>
              </a:extLst>
            </p:cNvPr>
            <p:cNvSpPr txBox="1"/>
            <p:nvPr/>
          </p:nvSpPr>
          <p:spPr>
            <a:xfrm>
              <a:off x="10910198" y="1352570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5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A63EA72-6627-45DC-184C-E0D8E6924D16}"/>
              </a:ext>
            </a:extLst>
          </p:cNvPr>
          <p:cNvGrpSpPr/>
          <p:nvPr/>
        </p:nvGrpSpPr>
        <p:grpSpPr>
          <a:xfrm>
            <a:off x="-10207313" y="0"/>
            <a:ext cx="11541600" cy="6858000"/>
            <a:chOff x="-4106489" y="-12641"/>
            <a:chExt cx="11541600" cy="6858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C928AFB-69F7-B1FE-328E-A6B68F2CDBB4}"/>
                </a:ext>
              </a:extLst>
            </p:cNvPr>
            <p:cNvGrpSpPr/>
            <p:nvPr/>
          </p:nvGrpSpPr>
          <p:grpSpPr>
            <a:xfrm>
              <a:off x="-4106489" y="-12641"/>
              <a:ext cx="11541600" cy="6858000"/>
              <a:chOff x="0" y="0"/>
              <a:chExt cx="11541600" cy="6858000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6924CBC1-EAD2-F388-B086-B491B7D538B1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FD6CBFBA-A324-AFA4-74C6-B8F9720A645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00C900A7-96AD-F213-8012-48F0536F5FEC}"/>
                    </a:ext>
                  </a:extLst>
                </p:cNvPr>
                <p:cNvSpPr/>
                <p:nvPr/>
              </p:nvSpPr>
              <p:spPr>
                <a:xfrm>
                  <a:off x="10692000" y="251484"/>
                  <a:ext cx="849600" cy="849600"/>
                </a:xfrm>
                <a:prstGeom prst="round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3AE8B4-1ACE-561F-479E-E85F590329E7}"/>
                  </a:ext>
                </a:extLst>
              </p:cNvPr>
              <p:cNvSpPr txBox="1"/>
              <p:nvPr/>
            </p:nvSpPr>
            <p:spPr>
              <a:xfrm>
                <a:off x="5454000" y="251484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Metodologías ágiles m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s comunes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385518E-06C3-B1DF-8762-D3EE85FE83C4}"/>
                  </a:ext>
                </a:extLst>
              </p:cNvPr>
              <p:cNvSpPr txBox="1"/>
              <p:nvPr/>
            </p:nvSpPr>
            <p:spPr>
              <a:xfrm>
                <a:off x="5454000" y="2228671"/>
                <a:ext cx="470263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Scrum: trabajo por </a:t>
                </a:r>
                <a:r>
                  <a:rPr lang="es-ES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sprints</a:t>
                </a:r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y roles definidos.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Kanban: flujo visual y límite de tareas.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XP: excelencia técnica y pruebas continuas.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Lean: eliminación de desperdicio.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47E24EF-886B-70E6-C765-FE52D8560DD0}"/>
                  </a:ext>
                </a:extLst>
              </p:cNvPr>
              <p:cNvSpPr txBox="1"/>
              <p:nvPr/>
            </p:nvSpPr>
            <p:spPr>
              <a:xfrm>
                <a:off x="10910198" y="251484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6</a:t>
                </a:r>
              </a:p>
            </p:txBody>
          </p:sp>
        </p:grpSp>
        <p:pic>
          <p:nvPicPr>
            <p:cNvPr id="13" name="Picture 12" descr="Professional Scrum Master™ I Certification | Scrum.org">
              <a:extLst>
                <a:ext uri="{FF2B5EF4-FFF2-40B4-BE49-F238E27FC236}">
                  <a16:creationId xmlns:a16="http://schemas.microsoft.com/office/drawing/2014/main" id="{B4844B09-3A7A-6429-86B7-C4A124FCF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3275" y="3498054"/>
              <a:ext cx="2676909" cy="2676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18081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A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92CFD-F732-A194-6589-2FF19C14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72EB6EF-D40C-662C-E691-111D43C21FD2}"/>
              </a:ext>
            </a:extLst>
          </p:cNvPr>
          <p:cNvGrpSpPr/>
          <p:nvPr/>
        </p:nvGrpSpPr>
        <p:grpSpPr>
          <a:xfrm>
            <a:off x="448709" y="0"/>
            <a:ext cx="11541600" cy="6896100"/>
            <a:chOff x="-807875" y="0"/>
            <a:chExt cx="11541600" cy="68961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C832F28-C116-1342-3F61-4CB26D62923C}"/>
                </a:ext>
              </a:extLst>
            </p:cNvPr>
            <p:cNvGrpSpPr/>
            <p:nvPr/>
          </p:nvGrpSpPr>
          <p:grpSpPr>
            <a:xfrm>
              <a:off x="-807875" y="0"/>
              <a:ext cx="11541600" cy="6858000"/>
              <a:chOff x="0" y="0"/>
              <a:chExt cx="11541600" cy="685800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7EEBD09-3B6F-FC09-5CB6-FFA7CFB08844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solidFill>
                <a:srgbClr val="2A135A"/>
              </a:solidFill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A0EAF19-B6DD-AEF5-3CDB-DB716F3C5D5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A39012EC-85FF-F756-C16E-7AC9D7DF735F}"/>
                    </a:ext>
                  </a:extLst>
                </p:cNvPr>
                <p:cNvSpPr/>
                <p:nvPr/>
              </p:nvSpPr>
              <p:spPr>
                <a:xfrm>
                  <a:off x="10692000" y="5756914"/>
                  <a:ext cx="849600" cy="849600"/>
                </a:xfrm>
                <a:prstGeom prst="round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CCC1E9-67BA-FF9A-75EA-2BB79C4F0657}"/>
                  </a:ext>
                </a:extLst>
              </p:cNvPr>
              <p:cNvSpPr txBox="1"/>
              <p:nvPr/>
            </p:nvSpPr>
            <p:spPr>
              <a:xfrm>
                <a:off x="5454000" y="476196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¿</a:t>
                </a:r>
                <a:r>
                  <a:rPr lang="en-US" sz="4000" b="1" dirty="0" err="1">
                    <a:latin typeface="Harlow Solid Italic" panose="04030604020F02020D02" pitchFamily="82" charset="0"/>
                  </a:rPr>
                  <a:t>Qué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 son las metodologías 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giles?</a:t>
                </a:r>
              </a:p>
            </p:txBody>
          </p:sp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51783A61-AEFB-A7DF-6101-5524B8B2A4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75947" y="1900385"/>
                <a:ext cx="4833000" cy="1597669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Conjunto de enfoques flexibles para gestionar proyectos.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Basadas en colaboración, adaptación y entrega continua.</a:t>
                </a:r>
              </a:p>
              <a:p>
                <a:pPr marL="0" indent="0">
                  <a:buNone/>
                </a:pPr>
                <a:r>
                  <a:rPr lang="es-ES" sz="18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- Alternativa a métodos rígidos como el modelo en cascada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FA76D5-D6E5-7717-6121-EE522F4C4041}"/>
                  </a:ext>
                </a:extLst>
              </p:cNvPr>
              <p:cNvSpPr txBox="1"/>
              <p:nvPr/>
            </p:nvSpPr>
            <p:spPr>
              <a:xfrm>
                <a:off x="10908000" y="5775517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1</a:t>
                </a:r>
              </a:p>
            </p:txBody>
          </p:sp>
        </p:grpSp>
        <p:pic>
          <p:nvPicPr>
            <p:cNvPr id="6" name="Picture 2" descr="Qué es la metodología Agile y por qué está de moda? | Progressa Lean">
              <a:extLst>
                <a:ext uri="{FF2B5EF4-FFF2-40B4-BE49-F238E27FC236}">
                  <a16:creationId xmlns:a16="http://schemas.microsoft.com/office/drawing/2014/main" id="{8D1B61F8-E956-6595-E4A3-81F8042187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1793" y="3598804"/>
              <a:ext cx="3311268" cy="3297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FED5954-2578-3C03-6827-99CAA1786B17}"/>
              </a:ext>
            </a:extLst>
          </p:cNvPr>
          <p:cNvGrpSpPr/>
          <p:nvPr/>
        </p:nvGrpSpPr>
        <p:grpSpPr>
          <a:xfrm>
            <a:off x="-508891" y="0"/>
            <a:ext cx="11541600" cy="6858000"/>
            <a:chOff x="0" y="0"/>
            <a:chExt cx="11541600" cy="68580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1D927EA-DB01-EEDF-0614-BD8AB390E437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4A2495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2BFA7D1-F176-8561-285C-E08919F1B6BF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FAEBCEEF-C56B-A07E-19EA-519F5B097172}"/>
                  </a:ext>
                </a:extLst>
              </p:cNvPr>
              <p:cNvSpPr/>
              <p:nvPr/>
            </p:nvSpPr>
            <p:spPr>
              <a:xfrm>
                <a:off x="10692000" y="4655828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D808182-B4CF-79A7-D308-E0A29E593475}"/>
                </a:ext>
              </a:extLst>
            </p:cNvPr>
            <p:cNvSpPr txBox="1"/>
            <p:nvPr/>
          </p:nvSpPr>
          <p:spPr>
            <a:xfrm>
              <a:off x="5454000" y="40049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Fases de </a:t>
              </a:r>
              <a:r>
                <a:rPr lang="es-ES" sz="4000" b="1" dirty="0">
                  <a:latin typeface="Harlow Solid Italic" panose="04030604020F02020D02" pitchFamily="82" charset="0"/>
                </a:rPr>
                <a:t>las metodologías ágiles </a:t>
              </a:r>
              <a:endParaRPr lang="es-ES" sz="4000" b="1" noProof="0" dirty="0">
                <a:latin typeface="Harlow Solid Italic" panose="04030604020F02020D02" pitchFamily="82" charset="0"/>
              </a:endParaRP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211969E2-E9E8-7EDE-A397-F0C8CD2071EE}"/>
                </a:ext>
              </a:extLst>
            </p:cNvPr>
            <p:cNvSpPr txBox="1">
              <a:spLocks/>
            </p:cNvSpPr>
            <p:nvPr/>
          </p:nvSpPr>
          <p:spPr>
            <a:xfrm>
              <a:off x="5454000" y="2124435"/>
              <a:ext cx="4052857" cy="2521303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Análisis continuo y basado en historias de usuario.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Diseño evolutivo e incremental.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Implementación por </a:t>
              </a:r>
              <a:r>
                <a:rPr lang="es-ES" sz="1800" noProof="0" dirty="0" err="1">
                  <a:latin typeface="Arial" panose="020B0604020202020204" pitchFamily="34" charset="0"/>
                  <a:cs typeface="Arial" panose="020B0604020202020204" pitchFamily="34" charset="0"/>
                </a:rPr>
                <a:t>sprints</a:t>
              </a: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 con integración continua.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Pruebas continuas y automatizadas.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ligera y útil.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Explotación con despliegues frecuentes.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Mantenimiento continuo desde el backlog.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207263C-6AB9-22D7-B607-D45AD0FDE777}"/>
                </a:ext>
              </a:extLst>
            </p:cNvPr>
            <p:cNvSpPr txBox="1"/>
            <p:nvPr/>
          </p:nvSpPr>
          <p:spPr>
            <a:xfrm>
              <a:off x="10910198" y="4674431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2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AF47223-0F78-6BC4-4D9E-5E1BACE35BEB}"/>
              </a:ext>
            </a:extLst>
          </p:cNvPr>
          <p:cNvGrpSpPr/>
          <p:nvPr/>
        </p:nvGrpSpPr>
        <p:grpSpPr>
          <a:xfrm>
            <a:off x="-1434647" y="0"/>
            <a:ext cx="11541600" cy="6858000"/>
            <a:chOff x="0" y="0"/>
            <a:chExt cx="11541600" cy="68580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A429061-2518-9402-4D9C-0BE99FA8BB1E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6B3DC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07A7390-61B5-91A7-38BC-533F9143E514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00259530-CF01-E335-41A2-C17E6DE97581}"/>
                  </a:ext>
                </a:extLst>
              </p:cNvPr>
              <p:cNvSpPr/>
              <p:nvPr/>
            </p:nvSpPr>
            <p:spPr>
              <a:xfrm>
                <a:off x="10692000" y="3554742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1B785C8-3C3B-1AE8-6679-794FC6C377F8}"/>
                </a:ext>
              </a:extLst>
            </p:cNvPr>
            <p:cNvSpPr txBox="1"/>
            <p:nvPr/>
          </p:nvSpPr>
          <p:spPr>
            <a:xfrm>
              <a:off x="5454000" y="359727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Ventajas de las metodologías ágiles </a:t>
              </a: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7E284CAB-59F2-11A8-6CE7-76CFBA6D1914}"/>
                </a:ext>
              </a:extLst>
            </p:cNvPr>
            <p:cNvSpPr txBox="1">
              <a:spLocks/>
            </p:cNvSpPr>
            <p:nvPr/>
          </p:nvSpPr>
          <p:spPr>
            <a:xfrm>
              <a:off x="5857943" y="2042893"/>
              <a:ext cx="5054856" cy="189076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calidad del producto.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Alta satisfacción del cliente.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Equipos más motivados.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Trabajo colaborativo.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Métricas más realistas.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Mayor control y predicción.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Reducción de costes y riesgos.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BF65F04-4D7C-943E-69A6-CC03F5FD28D7}"/>
                </a:ext>
              </a:extLst>
            </p:cNvPr>
            <p:cNvSpPr txBox="1"/>
            <p:nvPr/>
          </p:nvSpPr>
          <p:spPr>
            <a:xfrm>
              <a:off x="10908000" y="3573345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3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493E904-E128-7006-D539-D7827921E578}"/>
              </a:ext>
            </a:extLst>
          </p:cNvPr>
          <p:cNvGrpSpPr/>
          <p:nvPr/>
        </p:nvGrpSpPr>
        <p:grpSpPr>
          <a:xfrm>
            <a:off x="-2335932" y="5962"/>
            <a:ext cx="11541600" cy="6858000"/>
            <a:chOff x="0" y="0"/>
            <a:chExt cx="11541600" cy="6858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0231CD0-2A2F-71E4-DD0E-8EA231A46824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8A64E0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66D9CFE-C008-C597-2401-3B82EA796BFD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1E18C78A-8C8F-12C5-49E7-1E8EF33023F1}"/>
                  </a:ext>
                </a:extLst>
              </p:cNvPr>
              <p:cNvSpPr/>
              <p:nvPr/>
            </p:nvSpPr>
            <p:spPr>
              <a:xfrm>
                <a:off x="10692000" y="2453656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5E962BA-320D-2E74-AC5E-82988911B6D9}"/>
                </a:ext>
              </a:extLst>
            </p:cNvPr>
            <p:cNvSpPr txBox="1"/>
            <p:nvPr/>
          </p:nvSpPr>
          <p:spPr>
            <a:xfrm>
              <a:off x="5454000" y="28338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Desventajas de las metodologías ágiles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5C3AE08-9EBF-0224-C4B7-6ADCA4127DD5}"/>
                </a:ext>
              </a:extLst>
            </p:cNvPr>
            <p:cNvSpPr txBox="1"/>
            <p:nvPr/>
          </p:nvSpPr>
          <p:spPr>
            <a:xfrm>
              <a:off x="5454000" y="2201088"/>
              <a:ext cx="5019802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Difícil estimar tiempos y costes.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Requiere alta implicación del cliente.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Menos adecuado para equipos grandes.</a:t>
              </a:r>
            </a:p>
            <a:p>
              <a:r>
                <a:rPr lang="es-ES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Documentación limitada puede causar problemas</a:t>
              </a:r>
              <a:r>
                <a:rPr lang="es-ES" noProof="0" dirty="0"/>
                <a:t>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D58F232-A3D1-51D1-FF38-626A08740319}"/>
                </a:ext>
              </a:extLst>
            </p:cNvPr>
            <p:cNvSpPr txBox="1"/>
            <p:nvPr/>
          </p:nvSpPr>
          <p:spPr>
            <a:xfrm>
              <a:off x="10910198" y="2462957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4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AD33926-A055-B4F2-6BE8-8A103AE734B3}"/>
              </a:ext>
            </a:extLst>
          </p:cNvPr>
          <p:cNvGrpSpPr/>
          <p:nvPr/>
        </p:nvGrpSpPr>
        <p:grpSpPr>
          <a:xfrm>
            <a:off x="-3252840" y="0"/>
            <a:ext cx="11541600" cy="6858000"/>
            <a:chOff x="0" y="0"/>
            <a:chExt cx="11541600" cy="685800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51D5B38-D42D-AD0C-5771-F84AE3D1C9D0}"/>
                </a:ext>
              </a:extLst>
            </p:cNvPr>
            <p:cNvGrpSpPr/>
            <p:nvPr/>
          </p:nvGrpSpPr>
          <p:grpSpPr>
            <a:xfrm>
              <a:off x="0" y="0"/>
              <a:ext cx="11541600" cy="6858000"/>
              <a:chOff x="0" y="0"/>
              <a:chExt cx="11541600" cy="6858000"/>
            </a:xfrm>
            <a:solidFill>
              <a:srgbClr val="A98CEB"/>
            </a:solidFill>
            <a:effectLst>
              <a:outerShdw blurRad="127000" dist="63500" algn="l" rotWithShape="0">
                <a:prstClr val="black">
                  <a:alpha val="40000"/>
                </a:prstClr>
              </a:outerShdw>
            </a:effectLst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F49D55E-85E4-593C-CFBF-600EF1B6E513}"/>
                  </a:ext>
                </a:extLst>
              </p:cNvPr>
              <p:cNvSpPr/>
              <p:nvPr/>
            </p:nvSpPr>
            <p:spPr>
              <a:xfrm>
                <a:off x="0" y="0"/>
                <a:ext cx="109080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D18F9D77-459F-2AFD-D7CD-E6329D185B62}"/>
                  </a:ext>
                </a:extLst>
              </p:cNvPr>
              <p:cNvSpPr/>
              <p:nvPr/>
            </p:nvSpPr>
            <p:spPr>
              <a:xfrm>
                <a:off x="10692000" y="1352570"/>
                <a:ext cx="849600" cy="849600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noProof="0" dirty="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91A2432-36E3-B298-0A26-AD80773ACF63}"/>
                </a:ext>
              </a:extLst>
            </p:cNvPr>
            <p:cNvSpPr txBox="1"/>
            <p:nvPr/>
          </p:nvSpPr>
          <p:spPr>
            <a:xfrm>
              <a:off x="5841486" y="340538"/>
              <a:ext cx="421691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noProof="0" dirty="0">
                  <a:latin typeface="Harlow Solid Italic" panose="04030604020F02020D02" pitchFamily="82" charset="0"/>
                </a:rPr>
                <a:t>Cuando usar las metodologías ágiles </a:t>
              </a:r>
            </a:p>
          </p:txBody>
        </p:sp>
        <p:sp>
          <p:nvSpPr>
            <p:cNvPr id="47" name="Content Placeholder 2">
              <a:extLst>
                <a:ext uri="{FF2B5EF4-FFF2-40B4-BE49-F238E27FC236}">
                  <a16:creationId xmlns:a16="http://schemas.microsoft.com/office/drawing/2014/main" id="{2F699649-0C8A-9144-1DD1-3B1D0CD94201}"/>
                </a:ext>
              </a:extLst>
            </p:cNvPr>
            <p:cNvSpPr txBox="1">
              <a:spLocks/>
            </p:cNvSpPr>
            <p:nvPr/>
          </p:nvSpPr>
          <p:spPr>
            <a:xfrm>
              <a:off x="5761914" y="2004515"/>
              <a:ext cx="5370800" cy="2848970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Proyectos con requisitos cambiantes.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Startups y validación rápida.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Apps, plataformas y software.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Transformación digital.</a:t>
              </a:r>
            </a:p>
            <a:p>
              <a:pPr marL="0" indent="0">
                <a:buNone/>
              </a:pPr>
              <a:r>
                <a:rPr lang="es-ES" sz="1800" noProof="0" dirty="0">
                  <a:latin typeface="Arial" panose="020B0604020202020204" pitchFamily="34" charset="0"/>
                  <a:cs typeface="Arial" panose="020B0604020202020204" pitchFamily="34" charset="0"/>
                </a:rPr>
                <a:t>- Necesidad de resultados frecuentes.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52E8E16-F593-B3E6-110F-6FE757AC1334}"/>
                </a:ext>
              </a:extLst>
            </p:cNvPr>
            <p:cNvSpPr txBox="1"/>
            <p:nvPr/>
          </p:nvSpPr>
          <p:spPr>
            <a:xfrm>
              <a:off x="10910198" y="1352570"/>
              <a:ext cx="4132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noProof="0" dirty="0">
                  <a:latin typeface="Montserrat Black" pitchFamily="2" charset="0"/>
                </a:rPr>
                <a:t>5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AF87CB-4425-EDAD-CF0B-BC22475DC312}"/>
              </a:ext>
            </a:extLst>
          </p:cNvPr>
          <p:cNvGrpSpPr/>
          <p:nvPr/>
        </p:nvGrpSpPr>
        <p:grpSpPr>
          <a:xfrm>
            <a:off x="-4106489" y="-12641"/>
            <a:ext cx="11541600" cy="6858000"/>
            <a:chOff x="-4106489" y="-12641"/>
            <a:chExt cx="11541600" cy="685800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678C205-74F2-604D-8980-6C1B45F16C56}"/>
                </a:ext>
              </a:extLst>
            </p:cNvPr>
            <p:cNvGrpSpPr/>
            <p:nvPr/>
          </p:nvGrpSpPr>
          <p:grpSpPr>
            <a:xfrm>
              <a:off x="-4106489" y="-12641"/>
              <a:ext cx="11541600" cy="6858000"/>
              <a:chOff x="0" y="0"/>
              <a:chExt cx="11541600" cy="6858000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09D692A-88A6-2402-8D84-A13C7F694F46}"/>
                  </a:ext>
                </a:extLst>
              </p:cNvPr>
              <p:cNvGrpSpPr/>
              <p:nvPr/>
            </p:nvGrpSpPr>
            <p:grpSpPr>
              <a:xfrm>
                <a:off x="0" y="0"/>
                <a:ext cx="11541600" cy="6858000"/>
                <a:chOff x="0" y="0"/>
                <a:chExt cx="11541600" cy="6858000"/>
              </a:xfrm>
              <a:effectLst>
                <a:outerShdw blurRad="127000" dist="63500" algn="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105D7C98-E7AC-7669-8021-176B601106A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08000" cy="6858000"/>
                </a:xfrm>
                <a:prstGeom prst="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E0323EFC-FC83-CCD2-8413-1AD7AAB13988}"/>
                    </a:ext>
                  </a:extLst>
                </p:cNvPr>
                <p:cNvSpPr/>
                <p:nvPr/>
              </p:nvSpPr>
              <p:spPr>
                <a:xfrm>
                  <a:off x="10692000" y="251484"/>
                  <a:ext cx="849600" cy="849600"/>
                </a:xfrm>
                <a:prstGeom prst="roundRect">
                  <a:avLst/>
                </a:prstGeom>
                <a:solidFill>
                  <a:srgbClr val="C9B4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noProof="0" dirty="0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4EBE6D0-99B8-B3F4-751F-EE9CBACBEAA5}"/>
                  </a:ext>
                </a:extLst>
              </p:cNvPr>
              <p:cNvSpPr txBox="1"/>
              <p:nvPr/>
            </p:nvSpPr>
            <p:spPr>
              <a:xfrm>
                <a:off x="5454000" y="251484"/>
                <a:ext cx="421691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000" b="1" noProof="0" dirty="0">
                    <a:latin typeface="Harlow Solid Italic" panose="04030604020F02020D02" pitchFamily="82" charset="0"/>
                  </a:rPr>
                  <a:t>Metodologías ágiles m</a:t>
                </a:r>
                <a:r>
                  <a:rPr lang="es-ES" sz="4000" b="1" dirty="0">
                    <a:latin typeface="Harlow Solid Italic" panose="04030604020F02020D02" pitchFamily="82" charset="0"/>
                  </a:rPr>
                  <a:t>á</a:t>
                </a:r>
                <a:r>
                  <a:rPr lang="es-ES" sz="4000" b="1" noProof="0" dirty="0">
                    <a:latin typeface="Harlow Solid Italic" panose="04030604020F02020D02" pitchFamily="82" charset="0"/>
                  </a:rPr>
                  <a:t>s comunes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BFDCED6-0306-E4C0-0AF5-2E2789FE63B5}"/>
                  </a:ext>
                </a:extLst>
              </p:cNvPr>
              <p:cNvSpPr txBox="1"/>
              <p:nvPr/>
            </p:nvSpPr>
            <p:spPr>
              <a:xfrm>
                <a:off x="5454000" y="2228671"/>
                <a:ext cx="470263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Scrum: trabajo por </a:t>
                </a:r>
                <a:r>
                  <a:rPr lang="es-ES" noProof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sprints</a:t>
                </a:r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y roles definidos.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Kanban: flujo visual y límite de tareas.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XP: excelencia técnica y pruebas continuas.</a:t>
                </a:r>
              </a:p>
              <a:p>
                <a:r>
                  <a:rPr lang="es-ES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Lean: eliminación de desperdicio.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198B3B2-D3DB-7610-78B1-DE5195440952}"/>
                  </a:ext>
                </a:extLst>
              </p:cNvPr>
              <p:cNvSpPr txBox="1"/>
              <p:nvPr/>
            </p:nvSpPr>
            <p:spPr>
              <a:xfrm>
                <a:off x="10910198" y="251484"/>
                <a:ext cx="4132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4800" noProof="0" dirty="0">
                    <a:latin typeface="Montserrat Black" pitchFamily="2" charset="0"/>
                  </a:rPr>
                  <a:t>6</a:t>
                </a:r>
              </a:p>
            </p:txBody>
          </p:sp>
        </p:grpSp>
        <p:pic>
          <p:nvPicPr>
            <p:cNvPr id="4" name="Picture 3" descr="Professional Scrum Master™ I Certification | Scrum.org">
              <a:extLst>
                <a:ext uri="{FF2B5EF4-FFF2-40B4-BE49-F238E27FC236}">
                  <a16:creationId xmlns:a16="http://schemas.microsoft.com/office/drawing/2014/main" id="{12C32065-EAF3-16AA-2D49-88CC3D593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3275" y="3498054"/>
              <a:ext cx="2676909" cy="26769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1788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1714</Words>
  <Application>Microsoft Office PowerPoint</Application>
  <PresentationFormat>Widescreen</PresentationFormat>
  <Paragraphs>304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Cooper Black</vt:lpstr>
      <vt:lpstr>Harlow Solid Italic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</dc:creator>
  <cp:lastModifiedBy>Eric Palacios</cp:lastModifiedBy>
  <cp:revision>9</cp:revision>
  <dcterms:created xsi:type="dcterms:W3CDTF">2025-11-13T11:11:26Z</dcterms:created>
  <dcterms:modified xsi:type="dcterms:W3CDTF">2025-11-23T22:11:40Z</dcterms:modified>
</cp:coreProperties>
</file>